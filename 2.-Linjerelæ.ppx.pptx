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D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ema til typografi 1 - Markering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Mellemlayout 2 - Markerin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81"/>
  </p:normalViewPr>
  <p:slideViewPr>
    <p:cSldViewPr snapToGrid="0" snapToObjects="1">
      <p:cViewPr varScale="1">
        <p:scale>
          <a:sx n="107" d="100"/>
          <a:sy n="107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F5953-2162-8C47-83A6-19977CBA448E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BE886-EB35-5B4D-A3C3-4607C4882CE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72346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Pladsholder til sli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ABE886-EB35-5B4D-A3C3-4607C4882CEC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992179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41832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33693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464897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15666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77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65470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86815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708927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496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sk 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93470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61307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da-DK"/>
              <a:t>Klik for at redigere teksttypografierne i masteren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31857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06655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9345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kolonner med bille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96387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85403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3694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D20890F-54DF-3940-AF04-11D264C11A1F}" type="datetimeFigureOut">
              <a:rPr lang="da-DK" smtClean="0"/>
              <a:t>05.04.2021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1E8A2-9CE0-254F-942F-7D65C3AB2074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97360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En sidevisning af en abstrakt hvid og grå Flet i sfære form-visning">
            <a:extLst>
              <a:ext uri="{FF2B5EF4-FFF2-40B4-BE49-F238E27FC236}">
                <a16:creationId xmlns:a16="http://schemas.microsoft.com/office/drawing/2014/main" id="{58AFE352-5582-1742-84C8-6AF17646FD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l="9091" t="258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2ABB5F1-03F8-4349-91DD-77EF2C4AE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0932" y="3126983"/>
            <a:ext cx="9194533" cy="604034"/>
          </a:xfrm>
        </p:spPr>
        <p:txBody>
          <a:bodyPr>
            <a:noAutofit/>
          </a:bodyPr>
          <a:lstStyle/>
          <a:p>
            <a:r>
              <a:rPr lang="da-DK" sz="6000" dirty="0"/>
              <a:t>Linjerelæ</a:t>
            </a:r>
          </a:p>
        </p:txBody>
      </p:sp>
    </p:spTree>
    <p:extLst>
      <p:ext uri="{BB962C8B-B14F-4D97-AF65-F5344CB8AC3E}">
        <p14:creationId xmlns:p14="http://schemas.microsoft.com/office/powerpoint/2010/main" val="1366206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F61345C-91B7-4F4F-AB72-19C914EDC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Impedanser</a:t>
            </a:r>
          </a:p>
          <a:p>
            <a:r>
              <a:rPr lang="da-DK" sz="1400" dirty="0"/>
              <a:t>Flere trafoer</a:t>
            </a:r>
          </a:p>
          <a:p>
            <a:r>
              <a:rPr lang="da-DK" sz="1400" dirty="0"/>
              <a:t>IKmin</a:t>
            </a:r>
          </a:p>
          <a:p>
            <a:r>
              <a:rPr lang="da-DK" sz="1400" dirty="0"/>
              <a:t>I</a:t>
            </a:r>
            <a:r>
              <a:rPr lang="da-DK" sz="1400" baseline="-25000" dirty="0"/>
              <a:t>&gt;</a:t>
            </a:r>
            <a:r>
              <a:rPr lang="da-DK" sz="1400" dirty="0"/>
              <a:t> - I</a:t>
            </a:r>
            <a:r>
              <a:rPr lang="da-DK" sz="1400" baseline="-25000" dirty="0"/>
              <a:t>&gt;&gt;</a:t>
            </a:r>
          </a:p>
          <a:p>
            <a:r>
              <a:rPr lang="da-DK" sz="1400" dirty="0"/>
              <a:t>t</a:t>
            </a:r>
            <a:r>
              <a:rPr lang="da-DK" sz="1400" baseline="-25000" dirty="0"/>
              <a:t>&gt;</a:t>
            </a:r>
            <a:r>
              <a:rPr lang="da-DK" sz="1400" dirty="0"/>
              <a:t> - t</a:t>
            </a:r>
            <a:r>
              <a:rPr lang="da-DK" sz="1400" baseline="-25000" dirty="0"/>
              <a:t>&gt;&gt;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43E6AEB-0D73-D44E-BA8B-9685F7F8400A}"/>
              </a:ext>
            </a:extLst>
          </p:cNvPr>
          <p:cNvSpPr txBox="1">
            <a:spLocks/>
          </p:cNvSpPr>
          <p:nvPr/>
        </p:nvSpPr>
        <p:spPr>
          <a:xfrm>
            <a:off x="1103312" y="998912"/>
            <a:ext cx="5662613" cy="60403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500" dirty="0">
                <a:cs typeface="Calibri" panose="020F0502020204030204" pitchFamily="34" charset="0"/>
              </a:rPr>
              <a:t>Disposition</a:t>
            </a:r>
            <a:r>
              <a:rPr lang="da-DK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6557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ktangel 57">
            <a:extLst>
              <a:ext uri="{FF2B5EF4-FFF2-40B4-BE49-F238E27FC236}">
                <a16:creationId xmlns:a16="http://schemas.microsoft.com/office/drawing/2014/main" id="{B9927D2A-640A-E849-8DF4-353BE53D4C70}"/>
              </a:ext>
            </a:extLst>
          </p:cNvPr>
          <p:cNvSpPr/>
          <p:nvPr/>
        </p:nvSpPr>
        <p:spPr>
          <a:xfrm>
            <a:off x="6346772" y="4000697"/>
            <a:ext cx="135494" cy="130175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D1E2BA2-3F95-194C-9854-6F8BC3165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12" y="1003683"/>
            <a:ext cx="9603275" cy="1049235"/>
          </a:xfrm>
        </p:spPr>
        <p:txBody>
          <a:bodyPr>
            <a:normAutofit/>
          </a:bodyPr>
          <a:lstStyle/>
          <a:p>
            <a:r>
              <a:rPr lang="da-DK" sz="2400" dirty="0"/>
              <a:t>Impedanser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33A26CB0-6D04-7F47-8728-24B2E981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Z</a:t>
            </a:r>
            <a:r>
              <a:rPr lang="da-DK" sz="1400" baseline="-25000" dirty="0"/>
              <a:t>net</a:t>
            </a:r>
          </a:p>
          <a:p>
            <a:r>
              <a:rPr lang="da-DK" sz="1400" dirty="0"/>
              <a:t>Z</a:t>
            </a:r>
            <a:r>
              <a:rPr lang="da-DK" sz="1400" baseline="-25000" dirty="0"/>
              <a:t>trafo</a:t>
            </a:r>
            <a:r>
              <a:rPr lang="da-DK" sz="1400" dirty="0"/>
              <a:t> – kommer an på trafoen(hvor den placeres)</a:t>
            </a:r>
          </a:p>
          <a:p>
            <a:r>
              <a:rPr lang="da-DK" sz="1400" dirty="0"/>
              <a:t>Kabel størrelser – er de identiske</a:t>
            </a:r>
          </a:p>
          <a:p>
            <a:r>
              <a:rPr lang="da-DK" sz="1400" dirty="0"/>
              <a:t>Redekamsformlen</a:t>
            </a:r>
          </a:p>
          <a:p>
            <a:pPr marL="0" indent="0">
              <a:buNone/>
            </a:pPr>
            <a:endParaRPr lang="da-DK" sz="1400" dirty="0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BC25B176-201B-D645-9939-87BC74529DB7}"/>
              </a:ext>
            </a:extLst>
          </p:cNvPr>
          <p:cNvSpPr/>
          <p:nvPr/>
        </p:nvSpPr>
        <p:spPr>
          <a:xfrm>
            <a:off x="3739145" y="3560964"/>
            <a:ext cx="463138" cy="46313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82581C7-F1FD-4044-B962-A3B59548DC8E}"/>
              </a:ext>
            </a:extLst>
          </p:cNvPr>
          <p:cNvSpPr/>
          <p:nvPr/>
        </p:nvSpPr>
        <p:spPr>
          <a:xfrm>
            <a:off x="3970714" y="3560964"/>
            <a:ext cx="463138" cy="46313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" name="Lige forbindelse 7">
            <a:extLst>
              <a:ext uri="{FF2B5EF4-FFF2-40B4-BE49-F238E27FC236}">
                <a16:creationId xmlns:a16="http://schemas.microsoft.com/office/drawing/2014/main" id="{AFDCC30F-AAB8-A34A-95DC-179AFE73A966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4433852" y="3792533"/>
            <a:ext cx="1371600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Lige forbindelse 8">
            <a:extLst>
              <a:ext uri="{FF2B5EF4-FFF2-40B4-BE49-F238E27FC236}">
                <a16:creationId xmlns:a16="http://schemas.microsoft.com/office/drawing/2014/main" id="{C6EFDE03-751A-C446-A12A-EEF24232CC5F}"/>
              </a:ext>
            </a:extLst>
          </p:cNvPr>
          <p:cNvCxnSpPr>
            <a:cxnSpLocks/>
          </p:cNvCxnSpPr>
          <p:nvPr/>
        </p:nvCxnSpPr>
        <p:spPr>
          <a:xfrm>
            <a:off x="3359135" y="3792533"/>
            <a:ext cx="364073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ge pilforbindelse 11">
            <a:extLst>
              <a:ext uri="{FF2B5EF4-FFF2-40B4-BE49-F238E27FC236}">
                <a16:creationId xmlns:a16="http://schemas.microsoft.com/office/drawing/2014/main" id="{8FC7A1BC-4467-B941-8323-DBD0C4813735}"/>
              </a:ext>
            </a:extLst>
          </p:cNvPr>
          <p:cNvCxnSpPr>
            <a:cxnSpLocks/>
          </p:cNvCxnSpPr>
          <p:nvPr/>
        </p:nvCxnSpPr>
        <p:spPr>
          <a:xfrm>
            <a:off x="4584884" y="3792533"/>
            <a:ext cx="187369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ge forbindelse 17">
            <a:extLst>
              <a:ext uri="{FF2B5EF4-FFF2-40B4-BE49-F238E27FC236}">
                <a16:creationId xmlns:a16="http://schemas.microsoft.com/office/drawing/2014/main" id="{32C31848-0F33-354C-8E91-5965E0D27DC8}"/>
              </a:ext>
            </a:extLst>
          </p:cNvPr>
          <p:cNvCxnSpPr>
            <a:cxnSpLocks/>
          </p:cNvCxnSpPr>
          <p:nvPr/>
        </p:nvCxnSpPr>
        <p:spPr>
          <a:xfrm flipH="1" flipV="1">
            <a:off x="5783166" y="3771343"/>
            <a:ext cx="34272" cy="3572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CC1D2E48-E310-D64F-ADBC-DE1B829A10F4}"/>
              </a:ext>
            </a:extLst>
          </p:cNvPr>
          <p:cNvCxnSpPr>
            <a:cxnSpLocks/>
          </p:cNvCxnSpPr>
          <p:nvPr/>
        </p:nvCxnSpPr>
        <p:spPr>
          <a:xfrm flipV="1">
            <a:off x="5784757" y="3771343"/>
            <a:ext cx="26688" cy="389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ge forbindelse 33">
            <a:extLst>
              <a:ext uri="{FF2B5EF4-FFF2-40B4-BE49-F238E27FC236}">
                <a16:creationId xmlns:a16="http://schemas.microsoft.com/office/drawing/2014/main" id="{218A8BEA-7CE5-4540-9D1C-59EFB17FDCD4}"/>
              </a:ext>
            </a:extLst>
          </p:cNvPr>
          <p:cNvCxnSpPr>
            <a:cxnSpLocks/>
          </p:cNvCxnSpPr>
          <p:nvPr/>
        </p:nvCxnSpPr>
        <p:spPr>
          <a:xfrm flipV="1">
            <a:off x="5817438" y="3789206"/>
            <a:ext cx="155258" cy="8226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forbindelse 34">
            <a:extLst>
              <a:ext uri="{FF2B5EF4-FFF2-40B4-BE49-F238E27FC236}">
                <a16:creationId xmlns:a16="http://schemas.microsoft.com/office/drawing/2014/main" id="{523BE678-E1E4-9C42-A0AA-B9486C529F96}"/>
              </a:ext>
            </a:extLst>
          </p:cNvPr>
          <p:cNvCxnSpPr>
            <a:cxnSpLocks/>
          </p:cNvCxnSpPr>
          <p:nvPr/>
        </p:nvCxnSpPr>
        <p:spPr>
          <a:xfrm flipV="1">
            <a:off x="5969311" y="3789205"/>
            <a:ext cx="183143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ge forbindelse 38">
            <a:extLst>
              <a:ext uri="{FF2B5EF4-FFF2-40B4-BE49-F238E27FC236}">
                <a16:creationId xmlns:a16="http://schemas.microsoft.com/office/drawing/2014/main" id="{BA6F93AC-0CB3-7D43-823A-B023EB25696C}"/>
              </a:ext>
            </a:extLst>
          </p:cNvPr>
          <p:cNvCxnSpPr>
            <a:cxnSpLocks/>
          </p:cNvCxnSpPr>
          <p:nvPr/>
        </p:nvCxnSpPr>
        <p:spPr>
          <a:xfrm>
            <a:off x="5895067" y="3830338"/>
            <a:ext cx="0" cy="19376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0" name="Rektangel 39">
            <a:extLst>
              <a:ext uri="{FF2B5EF4-FFF2-40B4-BE49-F238E27FC236}">
                <a16:creationId xmlns:a16="http://schemas.microsoft.com/office/drawing/2014/main" id="{0693B1B5-77FA-8E43-BDB6-C3629845230F}"/>
              </a:ext>
            </a:extLst>
          </p:cNvPr>
          <p:cNvSpPr/>
          <p:nvPr/>
        </p:nvSpPr>
        <p:spPr>
          <a:xfrm>
            <a:off x="5829213" y="4000146"/>
            <a:ext cx="135494" cy="130175"/>
          </a:xfrm>
          <a:prstGeom prst="rect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75F62CB-5030-064D-8891-7902026946B5}"/>
              </a:ext>
            </a:extLst>
          </p:cNvPr>
          <p:cNvSpPr/>
          <p:nvPr/>
        </p:nvSpPr>
        <p:spPr>
          <a:xfrm>
            <a:off x="6052980" y="3752407"/>
            <a:ext cx="64717" cy="67196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42" name="Lige forbindelse 41">
            <a:extLst>
              <a:ext uri="{FF2B5EF4-FFF2-40B4-BE49-F238E27FC236}">
                <a16:creationId xmlns:a16="http://schemas.microsoft.com/office/drawing/2014/main" id="{EE5ADADD-B129-7340-96E8-2C715FB580B2}"/>
              </a:ext>
            </a:extLst>
          </p:cNvPr>
          <p:cNvCxnSpPr>
            <a:cxnSpLocks/>
          </p:cNvCxnSpPr>
          <p:nvPr/>
        </p:nvCxnSpPr>
        <p:spPr>
          <a:xfrm>
            <a:off x="6085338" y="3830338"/>
            <a:ext cx="0" cy="234895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ge forbindelse 44">
            <a:extLst>
              <a:ext uri="{FF2B5EF4-FFF2-40B4-BE49-F238E27FC236}">
                <a16:creationId xmlns:a16="http://schemas.microsoft.com/office/drawing/2014/main" id="{61236AD9-E18F-B84D-81CF-3530CF798A3F}"/>
              </a:ext>
            </a:extLst>
          </p:cNvPr>
          <p:cNvCxnSpPr>
            <a:cxnSpLocks/>
          </p:cNvCxnSpPr>
          <p:nvPr/>
        </p:nvCxnSpPr>
        <p:spPr>
          <a:xfrm>
            <a:off x="5983202" y="4065233"/>
            <a:ext cx="10213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ge forbindelse 46">
            <a:extLst>
              <a:ext uri="{FF2B5EF4-FFF2-40B4-BE49-F238E27FC236}">
                <a16:creationId xmlns:a16="http://schemas.microsoft.com/office/drawing/2014/main" id="{69AE0592-C61D-CB4E-A4A3-5E56FFB06E0A}"/>
              </a:ext>
            </a:extLst>
          </p:cNvPr>
          <p:cNvCxnSpPr>
            <a:cxnSpLocks/>
          </p:cNvCxnSpPr>
          <p:nvPr/>
        </p:nvCxnSpPr>
        <p:spPr>
          <a:xfrm>
            <a:off x="6042147" y="3859147"/>
            <a:ext cx="86382" cy="2819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Lige forbindelse 48">
            <a:extLst>
              <a:ext uri="{FF2B5EF4-FFF2-40B4-BE49-F238E27FC236}">
                <a16:creationId xmlns:a16="http://schemas.microsoft.com/office/drawing/2014/main" id="{C1CE0240-4D83-D74C-95BF-5B50C0B26FE5}"/>
              </a:ext>
            </a:extLst>
          </p:cNvPr>
          <p:cNvCxnSpPr>
            <a:cxnSpLocks/>
          </p:cNvCxnSpPr>
          <p:nvPr/>
        </p:nvCxnSpPr>
        <p:spPr>
          <a:xfrm>
            <a:off x="6040156" y="3884922"/>
            <a:ext cx="86382" cy="28198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kstfelt 49">
            <a:extLst>
              <a:ext uri="{FF2B5EF4-FFF2-40B4-BE49-F238E27FC236}">
                <a16:creationId xmlns:a16="http://schemas.microsoft.com/office/drawing/2014/main" id="{E70B4CD0-184D-4149-95C4-B55E62B0B3FE}"/>
              </a:ext>
            </a:extLst>
          </p:cNvPr>
          <p:cNvSpPr txBox="1"/>
          <p:nvPr/>
        </p:nvSpPr>
        <p:spPr>
          <a:xfrm>
            <a:off x="5792628" y="3979007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51" name="Lige forbindelse 50">
            <a:extLst>
              <a:ext uri="{FF2B5EF4-FFF2-40B4-BE49-F238E27FC236}">
                <a16:creationId xmlns:a16="http://schemas.microsoft.com/office/drawing/2014/main" id="{E244AD4D-267E-B44F-8D47-6019A9E2E852}"/>
              </a:ext>
            </a:extLst>
          </p:cNvPr>
          <p:cNvCxnSpPr>
            <a:cxnSpLocks/>
          </p:cNvCxnSpPr>
          <p:nvPr/>
        </p:nvCxnSpPr>
        <p:spPr>
          <a:xfrm>
            <a:off x="6153898" y="3429956"/>
            <a:ext cx="0" cy="99480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ge forbindelse 52">
            <a:extLst>
              <a:ext uri="{FF2B5EF4-FFF2-40B4-BE49-F238E27FC236}">
                <a16:creationId xmlns:a16="http://schemas.microsoft.com/office/drawing/2014/main" id="{E5AD07E8-AC60-A04F-9953-51A9FBDE809B}"/>
              </a:ext>
            </a:extLst>
          </p:cNvPr>
          <p:cNvCxnSpPr>
            <a:cxnSpLocks/>
          </p:cNvCxnSpPr>
          <p:nvPr/>
        </p:nvCxnSpPr>
        <p:spPr>
          <a:xfrm flipV="1">
            <a:off x="6152454" y="3790183"/>
            <a:ext cx="183143" cy="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Lige forbindelse 53">
            <a:extLst>
              <a:ext uri="{FF2B5EF4-FFF2-40B4-BE49-F238E27FC236}">
                <a16:creationId xmlns:a16="http://schemas.microsoft.com/office/drawing/2014/main" id="{B5F976E5-084B-3549-86D7-14E9A5976F5C}"/>
              </a:ext>
            </a:extLst>
          </p:cNvPr>
          <p:cNvCxnSpPr>
            <a:cxnSpLocks/>
          </p:cNvCxnSpPr>
          <p:nvPr/>
        </p:nvCxnSpPr>
        <p:spPr>
          <a:xfrm>
            <a:off x="6341215" y="3792533"/>
            <a:ext cx="151084" cy="7893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Lige forbindelse 55">
            <a:extLst>
              <a:ext uri="{FF2B5EF4-FFF2-40B4-BE49-F238E27FC236}">
                <a16:creationId xmlns:a16="http://schemas.microsoft.com/office/drawing/2014/main" id="{27B2D452-AA5E-1F49-8D3A-C34EB3168681}"/>
              </a:ext>
            </a:extLst>
          </p:cNvPr>
          <p:cNvCxnSpPr>
            <a:cxnSpLocks/>
          </p:cNvCxnSpPr>
          <p:nvPr/>
        </p:nvCxnSpPr>
        <p:spPr>
          <a:xfrm>
            <a:off x="6416757" y="3830338"/>
            <a:ext cx="0" cy="193764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Tekstfelt 56">
            <a:extLst>
              <a:ext uri="{FF2B5EF4-FFF2-40B4-BE49-F238E27FC236}">
                <a16:creationId xmlns:a16="http://schemas.microsoft.com/office/drawing/2014/main" id="{291A8011-A728-6F4A-A471-90C1316EFB37}"/>
              </a:ext>
            </a:extLst>
          </p:cNvPr>
          <p:cNvSpPr txBox="1"/>
          <p:nvPr/>
        </p:nvSpPr>
        <p:spPr>
          <a:xfrm>
            <a:off x="6306955" y="3975267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>
                <a:solidFill>
                  <a:sysClr val="windowText" lastClr="000000"/>
                </a:solidFill>
              </a:rPr>
              <a:t>R</a:t>
            </a:r>
          </a:p>
        </p:txBody>
      </p:sp>
      <p:cxnSp>
        <p:nvCxnSpPr>
          <p:cNvPr id="65" name="Lige forbindelse 64">
            <a:extLst>
              <a:ext uri="{FF2B5EF4-FFF2-40B4-BE49-F238E27FC236}">
                <a16:creationId xmlns:a16="http://schemas.microsoft.com/office/drawing/2014/main" id="{F9843B0C-1B21-ED46-AF13-7DABFBBBAB9E}"/>
              </a:ext>
            </a:extLst>
          </p:cNvPr>
          <p:cNvCxnSpPr>
            <a:cxnSpLocks/>
          </p:cNvCxnSpPr>
          <p:nvPr/>
        </p:nvCxnSpPr>
        <p:spPr>
          <a:xfrm flipH="1" flipV="1">
            <a:off x="6496069" y="3770993"/>
            <a:ext cx="34272" cy="35727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ge forbindelse 65">
            <a:extLst>
              <a:ext uri="{FF2B5EF4-FFF2-40B4-BE49-F238E27FC236}">
                <a16:creationId xmlns:a16="http://schemas.microsoft.com/office/drawing/2014/main" id="{09C25AD6-69C4-B94D-A0B4-8F2BE1AF26EA}"/>
              </a:ext>
            </a:extLst>
          </p:cNvPr>
          <p:cNvCxnSpPr>
            <a:cxnSpLocks/>
          </p:cNvCxnSpPr>
          <p:nvPr/>
        </p:nvCxnSpPr>
        <p:spPr>
          <a:xfrm flipV="1">
            <a:off x="6499248" y="3765123"/>
            <a:ext cx="26688" cy="389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ige forbindelse 66">
            <a:extLst>
              <a:ext uri="{FF2B5EF4-FFF2-40B4-BE49-F238E27FC236}">
                <a16:creationId xmlns:a16="http://schemas.microsoft.com/office/drawing/2014/main" id="{DA2E0BA9-C7AC-A049-B431-E9117A868CDA}"/>
              </a:ext>
            </a:extLst>
          </p:cNvPr>
          <p:cNvCxnSpPr>
            <a:cxnSpLocks/>
          </p:cNvCxnSpPr>
          <p:nvPr/>
        </p:nvCxnSpPr>
        <p:spPr>
          <a:xfrm>
            <a:off x="6517699" y="3792533"/>
            <a:ext cx="512272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ige pilforbindelse 70">
            <a:extLst>
              <a:ext uri="{FF2B5EF4-FFF2-40B4-BE49-F238E27FC236}">
                <a16:creationId xmlns:a16="http://schemas.microsoft.com/office/drawing/2014/main" id="{A05D4C68-85DA-984E-AFF9-266311B62189}"/>
              </a:ext>
            </a:extLst>
          </p:cNvPr>
          <p:cNvCxnSpPr>
            <a:cxnSpLocks/>
          </p:cNvCxnSpPr>
          <p:nvPr/>
        </p:nvCxnSpPr>
        <p:spPr>
          <a:xfrm>
            <a:off x="6694123" y="3792533"/>
            <a:ext cx="187369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ge forbindelse 71">
            <a:extLst>
              <a:ext uri="{FF2B5EF4-FFF2-40B4-BE49-F238E27FC236}">
                <a16:creationId xmlns:a16="http://schemas.microsoft.com/office/drawing/2014/main" id="{7DCA9A82-77F6-FF4C-AC34-BC5ED3961B90}"/>
              </a:ext>
            </a:extLst>
          </p:cNvPr>
          <p:cNvCxnSpPr>
            <a:cxnSpLocks/>
          </p:cNvCxnSpPr>
          <p:nvPr/>
        </p:nvCxnSpPr>
        <p:spPr>
          <a:xfrm>
            <a:off x="7029971" y="3797515"/>
            <a:ext cx="0" cy="1748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ige pilforbindelse 74">
            <a:extLst>
              <a:ext uri="{FF2B5EF4-FFF2-40B4-BE49-F238E27FC236}">
                <a16:creationId xmlns:a16="http://schemas.microsoft.com/office/drawing/2014/main" id="{A1A9ECD4-0467-9747-B3FE-BC4095E6C921}"/>
              </a:ext>
            </a:extLst>
          </p:cNvPr>
          <p:cNvCxnSpPr>
            <a:cxnSpLocks/>
          </p:cNvCxnSpPr>
          <p:nvPr/>
        </p:nvCxnSpPr>
        <p:spPr>
          <a:xfrm flipV="1">
            <a:off x="7029971" y="3855634"/>
            <a:ext cx="0" cy="114972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Ellipse 76">
            <a:extLst>
              <a:ext uri="{FF2B5EF4-FFF2-40B4-BE49-F238E27FC236}">
                <a16:creationId xmlns:a16="http://schemas.microsoft.com/office/drawing/2014/main" id="{35554CD4-CA6E-9C44-9D6A-626960E95879}"/>
              </a:ext>
            </a:extLst>
          </p:cNvPr>
          <p:cNvSpPr/>
          <p:nvPr/>
        </p:nvSpPr>
        <p:spPr>
          <a:xfrm>
            <a:off x="7007111" y="39783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78" name="Lige forbindelse 77">
            <a:extLst>
              <a:ext uri="{FF2B5EF4-FFF2-40B4-BE49-F238E27FC236}">
                <a16:creationId xmlns:a16="http://schemas.microsoft.com/office/drawing/2014/main" id="{BD3EFC04-3332-1242-B99A-30027783B41D}"/>
              </a:ext>
            </a:extLst>
          </p:cNvPr>
          <p:cNvCxnSpPr>
            <a:cxnSpLocks/>
          </p:cNvCxnSpPr>
          <p:nvPr/>
        </p:nvCxnSpPr>
        <p:spPr>
          <a:xfrm>
            <a:off x="6995461" y="3970606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ige forbindelse 80">
            <a:extLst>
              <a:ext uri="{FF2B5EF4-FFF2-40B4-BE49-F238E27FC236}">
                <a16:creationId xmlns:a16="http://schemas.microsoft.com/office/drawing/2014/main" id="{06D153A4-471F-5A45-923B-36DB9FCA573E}"/>
              </a:ext>
            </a:extLst>
          </p:cNvPr>
          <p:cNvCxnSpPr>
            <a:cxnSpLocks/>
          </p:cNvCxnSpPr>
          <p:nvPr/>
        </p:nvCxnSpPr>
        <p:spPr>
          <a:xfrm>
            <a:off x="7470100" y="3797515"/>
            <a:ext cx="0" cy="174813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ige pilforbindelse 81">
            <a:extLst>
              <a:ext uri="{FF2B5EF4-FFF2-40B4-BE49-F238E27FC236}">
                <a16:creationId xmlns:a16="http://schemas.microsoft.com/office/drawing/2014/main" id="{3F345645-6EC4-1B41-9A79-311594FD4108}"/>
              </a:ext>
            </a:extLst>
          </p:cNvPr>
          <p:cNvCxnSpPr>
            <a:cxnSpLocks/>
          </p:cNvCxnSpPr>
          <p:nvPr/>
        </p:nvCxnSpPr>
        <p:spPr>
          <a:xfrm flipV="1">
            <a:off x="7470100" y="3855634"/>
            <a:ext cx="0" cy="114972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Ellipse 82">
            <a:extLst>
              <a:ext uri="{FF2B5EF4-FFF2-40B4-BE49-F238E27FC236}">
                <a16:creationId xmlns:a16="http://schemas.microsoft.com/office/drawing/2014/main" id="{6CD3958C-B82B-8740-A423-D12ECAFE9791}"/>
              </a:ext>
            </a:extLst>
          </p:cNvPr>
          <p:cNvSpPr/>
          <p:nvPr/>
        </p:nvSpPr>
        <p:spPr>
          <a:xfrm>
            <a:off x="7447240" y="39783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84" name="Lige forbindelse 83">
            <a:extLst>
              <a:ext uri="{FF2B5EF4-FFF2-40B4-BE49-F238E27FC236}">
                <a16:creationId xmlns:a16="http://schemas.microsoft.com/office/drawing/2014/main" id="{8FC2B151-6B60-6A49-A51D-6B50E46AD1EC}"/>
              </a:ext>
            </a:extLst>
          </p:cNvPr>
          <p:cNvCxnSpPr>
            <a:cxnSpLocks/>
          </p:cNvCxnSpPr>
          <p:nvPr/>
        </p:nvCxnSpPr>
        <p:spPr>
          <a:xfrm>
            <a:off x="7435590" y="3970606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ige forbindelse 84">
            <a:extLst>
              <a:ext uri="{FF2B5EF4-FFF2-40B4-BE49-F238E27FC236}">
                <a16:creationId xmlns:a16="http://schemas.microsoft.com/office/drawing/2014/main" id="{92B29547-9527-CE41-8748-98684FB8E555}"/>
              </a:ext>
            </a:extLst>
          </p:cNvPr>
          <p:cNvCxnSpPr>
            <a:cxnSpLocks/>
          </p:cNvCxnSpPr>
          <p:nvPr/>
        </p:nvCxnSpPr>
        <p:spPr>
          <a:xfrm>
            <a:off x="7470100" y="3797515"/>
            <a:ext cx="439346" cy="65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ige forbindelse 87">
            <a:extLst>
              <a:ext uri="{FF2B5EF4-FFF2-40B4-BE49-F238E27FC236}">
                <a16:creationId xmlns:a16="http://schemas.microsoft.com/office/drawing/2014/main" id="{05182E1E-9C6E-4B46-B3B6-41A832D3A6F3}"/>
              </a:ext>
            </a:extLst>
          </p:cNvPr>
          <p:cNvCxnSpPr>
            <a:cxnSpLocks/>
          </p:cNvCxnSpPr>
          <p:nvPr/>
        </p:nvCxnSpPr>
        <p:spPr>
          <a:xfrm>
            <a:off x="7029971" y="4169631"/>
            <a:ext cx="0" cy="114801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Lige forbindelse 88">
            <a:extLst>
              <a:ext uri="{FF2B5EF4-FFF2-40B4-BE49-F238E27FC236}">
                <a16:creationId xmlns:a16="http://schemas.microsoft.com/office/drawing/2014/main" id="{DF4700E5-CC39-4747-8765-CDC8B6BF86AF}"/>
              </a:ext>
            </a:extLst>
          </p:cNvPr>
          <p:cNvCxnSpPr>
            <a:cxnSpLocks/>
          </p:cNvCxnSpPr>
          <p:nvPr/>
        </p:nvCxnSpPr>
        <p:spPr>
          <a:xfrm>
            <a:off x="7470100" y="4172806"/>
            <a:ext cx="0" cy="11162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ge forbindelse 91">
            <a:extLst>
              <a:ext uri="{FF2B5EF4-FFF2-40B4-BE49-F238E27FC236}">
                <a16:creationId xmlns:a16="http://schemas.microsoft.com/office/drawing/2014/main" id="{490D3324-2AB7-B94E-A031-24C589DE15B5}"/>
              </a:ext>
            </a:extLst>
          </p:cNvPr>
          <p:cNvCxnSpPr>
            <a:cxnSpLocks/>
          </p:cNvCxnSpPr>
          <p:nvPr/>
        </p:nvCxnSpPr>
        <p:spPr>
          <a:xfrm>
            <a:off x="7029970" y="4284432"/>
            <a:ext cx="439346" cy="650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ige forbindelse 92">
            <a:extLst>
              <a:ext uri="{FF2B5EF4-FFF2-40B4-BE49-F238E27FC236}">
                <a16:creationId xmlns:a16="http://schemas.microsoft.com/office/drawing/2014/main" id="{7E4375BB-CCEB-AC47-9B07-9953EB132C19}"/>
              </a:ext>
            </a:extLst>
          </p:cNvPr>
          <p:cNvCxnSpPr>
            <a:cxnSpLocks/>
          </p:cNvCxnSpPr>
          <p:nvPr/>
        </p:nvCxnSpPr>
        <p:spPr>
          <a:xfrm>
            <a:off x="7242097" y="4290941"/>
            <a:ext cx="0" cy="10999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ige forbindelse 94">
            <a:extLst>
              <a:ext uri="{FF2B5EF4-FFF2-40B4-BE49-F238E27FC236}">
                <a16:creationId xmlns:a16="http://schemas.microsoft.com/office/drawing/2014/main" id="{0B6C3AD8-7E2A-D94B-8BD1-996DCAE35D4B}"/>
              </a:ext>
            </a:extLst>
          </p:cNvPr>
          <p:cNvCxnSpPr>
            <a:cxnSpLocks/>
          </p:cNvCxnSpPr>
          <p:nvPr/>
        </p:nvCxnSpPr>
        <p:spPr>
          <a:xfrm flipH="1">
            <a:off x="7188721" y="4407440"/>
            <a:ext cx="53376" cy="10094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Ellipse 96">
            <a:extLst>
              <a:ext uri="{FF2B5EF4-FFF2-40B4-BE49-F238E27FC236}">
                <a16:creationId xmlns:a16="http://schemas.microsoft.com/office/drawing/2014/main" id="{A93F1B79-1446-084D-A3FC-1790D7596DFA}"/>
              </a:ext>
            </a:extLst>
          </p:cNvPr>
          <p:cNvSpPr/>
          <p:nvPr/>
        </p:nvSpPr>
        <p:spPr>
          <a:xfrm>
            <a:off x="7219237" y="4551271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98" name="Lige forbindelse 97">
            <a:extLst>
              <a:ext uri="{FF2B5EF4-FFF2-40B4-BE49-F238E27FC236}">
                <a16:creationId xmlns:a16="http://schemas.microsoft.com/office/drawing/2014/main" id="{F18EF502-9268-734B-B840-64D12611696A}"/>
              </a:ext>
            </a:extLst>
          </p:cNvPr>
          <p:cNvCxnSpPr>
            <a:cxnSpLocks/>
          </p:cNvCxnSpPr>
          <p:nvPr/>
        </p:nvCxnSpPr>
        <p:spPr>
          <a:xfrm>
            <a:off x="7207588" y="4599186"/>
            <a:ext cx="69018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ige forbindelse 98">
            <a:extLst>
              <a:ext uri="{FF2B5EF4-FFF2-40B4-BE49-F238E27FC236}">
                <a16:creationId xmlns:a16="http://schemas.microsoft.com/office/drawing/2014/main" id="{91637AA4-5D63-ED48-9F9D-DA320ED7B4FB}"/>
              </a:ext>
            </a:extLst>
          </p:cNvPr>
          <p:cNvCxnSpPr>
            <a:cxnSpLocks/>
          </p:cNvCxnSpPr>
          <p:nvPr/>
        </p:nvCxnSpPr>
        <p:spPr>
          <a:xfrm flipH="1">
            <a:off x="7242096" y="4596990"/>
            <a:ext cx="1" cy="31876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ktangel 101">
            <a:extLst>
              <a:ext uri="{FF2B5EF4-FFF2-40B4-BE49-F238E27FC236}">
                <a16:creationId xmlns:a16="http://schemas.microsoft.com/office/drawing/2014/main" id="{E34C6E9C-304C-7443-A073-B9E602669320}"/>
              </a:ext>
            </a:extLst>
          </p:cNvPr>
          <p:cNvSpPr/>
          <p:nvPr/>
        </p:nvSpPr>
        <p:spPr>
          <a:xfrm>
            <a:off x="7212766" y="4681543"/>
            <a:ext cx="58660" cy="165627"/>
          </a:xfrm>
          <a:prstGeom prst="rect">
            <a:avLst/>
          </a:prstGeom>
          <a:noFill/>
          <a:ln w="63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07" name="Lige pilforbindelse 106">
            <a:extLst>
              <a:ext uri="{FF2B5EF4-FFF2-40B4-BE49-F238E27FC236}">
                <a16:creationId xmlns:a16="http://schemas.microsoft.com/office/drawing/2014/main" id="{BF7D9A2F-6FE0-6B46-A95A-1A380E795A0B}"/>
              </a:ext>
            </a:extLst>
          </p:cNvPr>
          <p:cNvCxnSpPr>
            <a:cxnSpLocks/>
          </p:cNvCxnSpPr>
          <p:nvPr/>
        </p:nvCxnSpPr>
        <p:spPr>
          <a:xfrm>
            <a:off x="7242096" y="4874481"/>
            <a:ext cx="0" cy="17145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Lige forbindelse 107">
            <a:extLst>
              <a:ext uri="{FF2B5EF4-FFF2-40B4-BE49-F238E27FC236}">
                <a16:creationId xmlns:a16="http://schemas.microsoft.com/office/drawing/2014/main" id="{3E84C46D-D870-834E-8603-9D125ACED0C6}"/>
              </a:ext>
            </a:extLst>
          </p:cNvPr>
          <p:cNvCxnSpPr>
            <a:cxnSpLocks/>
          </p:cNvCxnSpPr>
          <p:nvPr/>
        </p:nvCxnSpPr>
        <p:spPr>
          <a:xfrm flipH="1">
            <a:off x="7242095" y="4917809"/>
            <a:ext cx="1" cy="31876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Lige pilforbindelse 108">
            <a:extLst>
              <a:ext uri="{FF2B5EF4-FFF2-40B4-BE49-F238E27FC236}">
                <a16:creationId xmlns:a16="http://schemas.microsoft.com/office/drawing/2014/main" id="{4B0A9DDB-51D5-1243-8D61-EDFF124EC22E}"/>
              </a:ext>
            </a:extLst>
          </p:cNvPr>
          <p:cNvCxnSpPr>
            <a:cxnSpLocks/>
          </p:cNvCxnSpPr>
          <p:nvPr/>
        </p:nvCxnSpPr>
        <p:spPr>
          <a:xfrm flipV="1">
            <a:off x="7242095" y="5122131"/>
            <a:ext cx="0" cy="13970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Ellipse 112">
            <a:extLst>
              <a:ext uri="{FF2B5EF4-FFF2-40B4-BE49-F238E27FC236}">
                <a16:creationId xmlns:a16="http://schemas.microsoft.com/office/drawing/2014/main" id="{75E5F16D-E263-3C45-95D2-2CAAB178AC33}"/>
              </a:ext>
            </a:extLst>
          </p:cNvPr>
          <p:cNvSpPr/>
          <p:nvPr/>
        </p:nvSpPr>
        <p:spPr>
          <a:xfrm>
            <a:off x="7158512" y="5267258"/>
            <a:ext cx="167166" cy="18290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A0A2D5BE-56BC-B041-83C1-4029829871B6}"/>
              </a:ext>
            </a:extLst>
          </p:cNvPr>
          <p:cNvSpPr/>
          <p:nvPr/>
        </p:nvSpPr>
        <p:spPr>
          <a:xfrm>
            <a:off x="7158512" y="5358712"/>
            <a:ext cx="167166" cy="182908"/>
          </a:xfrm>
          <a:prstGeom prst="ellipse">
            <a:avLst/>
          </a:prstGeom>
          <a:solidFill>
            <a:schemeClr val="tx1"/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115" name="Lige forbindelse 114">
            <a:extLst>
              <a:ext uri="{FF2B5EF4-FFF2-40B4-BE49-F238E27FC236}">
                <a16:creationId xmlns:a16="http://schemas.microsoft.com/office/drawing/2014/main" id="{A4C84681-4389-504E-9E8B-6224C0637CC4}"/>
              </a:ext>
            </a:extLst>
          </p:cNvPr>
          <p:cNvCxnSpPr>
            <a:cxnSpLocks/>
          </p:cNvCxnSpPr>
          <p:nvPr/>
        </p:nvCxnSpPr>
        <p:spPr>
          <a:xfrm>
            <a:off x="7242095" y="5551801"/>
            <a:ext cx="0" cy="10690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kstfelt 116">
            <a:extLst>
              <a:ext uri="{FF2B5EF4-FFF2-40B4-BE49-F238E27FC236}">
                <a16:creationId xmlns:a16="http://schemas.microsoft.com/office/drawing/2014/main" id="{AFF786CA-9042-A442-A055-8B90FD9DCCE2}"/>
              </a:ext>
            </a:extLst>
          </p:cNvPr>
          <p:cNvSpPr txBox="1"/>
          <p:nvPr/>
        </p:nvSpPr>
        <p:spPr>
          <a:xfrm>
            <a:off x="6949580" y="5304428"/>
            <a:ext cx="29583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T1</a:t>
            </a:r>
          </a:p>
        </p:txBody>
      </p:sp>
      <p:sp>
        <p:nvSpPr>
          <p:cNvPr id="118" name="Tekstfelt 117">
            <a:extLst>
              <a:ext uri="{FF2B5EF4-FFF2-40B4-BE49-F238E27FC236}">
                <a16:creationId xmlns:a16="http://schemas.microsoft.com/office/drawing/2014/main" id="{879DCD52-96FF-3B46-A34A-CD6EE79EC76E}"/>
              </a:ext>
            </a:extLst>
          </p:cNvPr>
          <p:cNvSpPr txBox="1"/>
          <p:nvPr/>
        </p:nvSpPr>
        <p:spPr>
          <a:xfrm>
            <a:off x="3865421" y="3345317"/>
            <a:ext cx="49933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50/10 kV</a:t>
            </a:r>
          </a:p>
        </p:txBody>
      </p:sp>
      <p:sp>
        <p:nvSpPr>
          <p:cNvPr id="119" name="Tekstfelt 118">
            <a:extLst>
              <a:ext uri="{FF2B5EF4-FFF2-40B4-BE49-F238E27FC236}">
                <a16:creationId xmlns:a16="http://schemas.microsoft.com/office/drawing/2014/main" id="{139BEF1E-639D-3B4C-8759-7C0FF4BE0ACE}"/>
              </a:ext>
            </a:extLst>
          </p:cNvPr>
          <p:cNvSpPr txBox="1"/>
          <p:nvPr/>
        </p:nvSpPr>
        <p:spPr>
          <a:xfrm>
            <a:off x="5869483" y="3249891"/>
            <a:ext cx="58539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10 kV skinne</a:t>
            </a:r>
          </a:p>
        </p:txBody>
      </p:sp>
      <p:sp>
        <p:nvSpPr>
          <p:cNvPr id="120" name="Tekstfelt 119">
            <a:extLst>
              <a:ext uri="{FF2B5EF4-FFF2-40B4-BE49-F238E27FC236}">
                <a16:creationId xmlns:a16="http://schemas.microsoft.com/office/drawing/2014/main" id="{44FB98E4-907D-4B48-B914-1D525C5C76BA}"/>
              </a:ext>
            </a:extLst>
          </p:cNvPr>
          <p:cNvSpPr txBox="1"/>
          <p:nvPr/>
        </p:nvSpPr>
        <p:spPr>
          <a:xfrm>
            <a:off x="6823491" y="3630145"/>
            <a:ext cx="58539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W1</a:t>
            </a:r>
          </a:p>
        </p:txBody>
      </p:sp>
      <p:sp>
        <p:nvSpPr>
          <p:cNvPr id="121" name="Tekstfelt 120">
            <a:extLst>
              <a:ext uri="{FF2B5EF4-FFF2-40B4-BE49-F238E27FC236}">
                <a16:creationId xmlns:a16="http://schemas.microsoft.com/office/drawing/2014/main" id="{2DFF2D6C-ACEA-324A-BC0B-AAC0BBA8AE9D}"/>
              </a:ext>
            </a:extLst>
          </p:cNvPr>
          <p:cNvSpPr txBox="1"/>
          <p:nvPr/>
        </p:nvSpPr>
        <p:spPr>
          <a:xfrm>
            <a:off x="7579805" y="3652288"/>
            <a:ext cx="58539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W2</a:t>
            </a:r>
          </a:p>
        </p:txBody>
      </p:sp>
      <p:cxnSp>
        <p:nvCxnSpPr>
          <p:cNvPr id="122" name="Lige forbindelse 121">
            <a:extLst>
              <a:ext uri="{FF2B5EF4-FFF2-40B4-BE49-F238E27FC236}">
                <a16:creationId xmlns:a16="http://schemas.microsoft.com/office/drawing/2014/main" id="{68A9481B-1234-974C-9958-19179C04F659}"/>
              </a:ext>
            </a:extLst>
          </p:cNvPr>
          <p:cNvCxnSpPr>
            <a:cxnSpLocks/>
          </p:cNvCxnSpPr>
          <p:nvPr/>
        </p:nvCxnSpPr>
        <p:spPr>
          <a:xfrm flipV="1">
            <a:off x="7469316" y="4082232"/>
            <a:ext cx="75871" cy="9057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Lige forbindelse 124">
            <a:extLst>
              <a:ext uri="{FF2B5EF4-FFF2-40B4-BE49-F238E27FC236}">
                <a16:creationId xmlns:a16="http://schemas.microsoft.com/office/drawing/2014/main" id="{3CFF9C07-8BE4-9B49-860A-B7DD87F95AC5}"/>
              </a:ext>
            </a:extLst>
          </p:cNvPr>
          <p:cNvCxnSpPr>
            <a:cxnSpLocks/>
          </p:cNvCxnSpPr>
          <p:nvPr/>
        </p:nvCxnSpPr>
        <p:spPr>
          <a:xfrm flipH="1" flipV="1">
            <a:off x="6949580" y="4066946"/>
            <a:ext cx="78631" cy="91586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Lige pilforbindelse 166">
            <a:extLst>
              <a:ext uri="{FF2B5EF4-FFF2-40B4-BE49-F238E27FC236}">
                <a16:creationId xmlns:a16="http://schemas.microsoft.com/office/drawing/2014/main" id="{BB2A5719-424A-994D-97CA-B174E118D491}"/>
              </a:ext>
            </a:extLst>
          </p:cNvPr>
          <p:cNvCxnSpPr>
            <a:cxnSpLocks/>
          </p:cNvCxnSpPr>
          <p:nvPr/>
        </p:nvCxnSpPr>
        <p:spPr>
          <a:xfrm flipH="1">
            <a:off x="5032559" y="3793647"/>
            <a:ext cx="152400" cy="0"/>
          </a:xfrm>
          <a:prstGeom prst="straightConnector1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4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F014810C-4BFC-1944-96D3-D7995FD95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a-DK" sz="1400" dirty="0"/>
              <a:t>Sikkerhedsmargin på trafoer – 75 %</a:t>
            </a:r>
          </a:p>
          <a:p>
            <a:r>
              <a:rPr lang="da-DK" sz="1400" dirty="0"/>
              <a:t>2 faset kortslutning til skærm – ingen nul i forsyningen</a:t>
            </a:r>
          </a:p>
          <a:p>
            <a:r>
              <a:rPr lang="da-DK" sz="1400" dirty="0"/>
              <a:t>Jordslutning – hvorfor er den så slem</a:t>
            </a:r>
          </a:p>
          <a:p>
            <a:endParaRPr lang="da-DK" sz="1400" dirty="0"/>
          </a:p>
          <a:p>
            <a:endParaRPr lang="da-DK" sz="1400" dirty="0"/>
          </a:p>
          <a:p>
            <a:endParaRPr lang="da-DK" sz="1400" dirty="0"/>
          </a:p>
          <a:p>
            <a:endParaRPr lang="da-DK" sz="1400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1D768CFB-B7C8-D547-A1F8-1DC20D582DB5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IKmin</a:t>
            </a:r>
          </a:p>
        </p:txBody>
      </p:sp>
      <p:sp>
        <p:nvSpPr>
          <p:cNvPr id="2" name="Ellipse 1">
            <a:extLst>
              <a:ext uri="{FF2B5EF4-FFF2-40B4-BE49-F238E27FC236}">
                <a16:creationId xmlns:a16="http://schemas.microsoft.com/office/drawing/2014/main" id="{56B64242-B156-8C40-A99D-0447751199E0}"/>
              </a:ext>
            </a:extLst>
          </p:cNvPr>
          <p:cNvSpPr/>
          <p:nvPr/>
        </p:nvSpPr>
        <p:spPr>
          <a:xfrm>
            <a:off x="7422077" y="2897579"/>
            <a:ext cx="1816925" cy="1907504"/>
          </a:xfrm>
          <a:prstGeom prst="ellipse">
            <a:avLst/>
          </a:prstGeom>
          <a:noFill/>
          <a:ln>
            <a:solidFill>
              <a:srgbClr val="E0DE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3F3393E0-C5A1-A342-BACE-D8C692BEC6C2}"/>
              </a:ext>
            </a:extLst>
          </p:cNvPr>
          <p:cNvSpPr/>
          <p:nvPr/>
        </p:nvSpPr>
        <p:spPr>
          <a:xfrm>
            <a:off x="8140534" y="3305996"/>
            <a:ext cx="380010" cy="3562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FCE11FC-28BB-5443-96B5-E17D3A6C0DC5}"/>
              </a:ext>
            </a:extLst>
          </p:cNvPr>
          <p:cNvSpPr/>
          <p:nvPr/>
        </p:nvSpPr>
        <p:spPr>
          <a:xfrm>
            <a:off x="7778336" y="3851331"/>
            <a:ext cx="380010" cy="3562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E8CA296C-4A91-6842-B85F-FDEF79C354CA}"/>
              </a:ext>
            </a:extLst>
          </p:cNvPr>
          <p:cNvSpPr/>
          <p:nvPr/>
        </p:nvSpPr>
        <p:spPr>
          <a:xfrm>
            <a:off x="8508669" y="3849524"/>
            <a:ext cx="380010" cy="356260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8" name="Lyn 7">
            <a:extLst>
              <a:ext uri="{FF2B5EF4-FFF2-40B4-BE49-F238E27FC236}">
                <a16:creationId xmlns:a16="http://schemas.microsoft.com/office/drawing/2014/main" id="{7D93ADDF-9B30-5D42-B412-F2D952C04273}"/>
              </a:ext>
            </a:extLst>
          </p:cNvPr>
          <p:cNvSpPr/>
          <p:nvPr/>
        </p:nvSpPr>
        <p:spPr>
          <a:xfrm rot="9894703">
            <a:off x="7850469" y="3157497"/>
            <a:ext cx="317248" cy="283122"/>
          </a:xfrm>
          <a:prstGeom prst="lightningBol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32C28B3-B908-614A-9E20-071D15F14D9B}"/>
              </a:ext>
            </a:extLst>
          </p:cNvPr>
          <p:cNvSpPr/>
          <p:nvPr/>
        </p:nvSpPr>
        <p:spPr>
          <a:xfrm>
            <a:off x="7538442" y="2996293"/>
            <a:ext cx="1584194" cy="1706462"/>
          </a:xfrm>
          <a:prstGeom prst="ellipse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0" name="Lyn 9">
            <a:extLst>
              <a:ext uri="{FF2B5EF4-FFF2-40B4-BE49-F238E27FC236}">
                <a16:creationId xmlns:a16="http://schemas.microsoft.com/office/drawing/2014/main" id="{C99D8D6B-EE74-0E46-B601-D6A27D308572}"/>
              </a:ext>
            </a:extLst>
          </p:cNvPr>
          <p:cNvSpPr/>
          <p:nvPr/>
        </p:nvSpPr>
        <p:spPr>
          <a:xfrm rot="2492590">
            <a:off x="7769307" y="4220246"/>
            <a:ext cx="317248" cy="283122"/>
          </a:xfrm>
          <a:prstGeom prst="lightningBol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5682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09CB8DF-31F5-1047-BAB9-AF19B6327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da-DK" sz="1400" dirty="0"/>
                  <a:t>I</a:t>
                </a:r>
                <a:r>
                  <a:rPr lang="da-DK" sz="1400" baseline="-25000" dirty="0"/>
                  <a:t>&gt;</a:t>
                </a:r>
              </a:p>
              <a:p>
                <a:r>
                  <a:rPr lang="da-DK" sz="1400" dirty="0"/>
                  <a:t>Kan relateres til OB - Overstrømsbeskyttelse</a:t>
                </a:r>
              </a:p>
              <a:p>
                <a:r>
                  <a:rPr lang="da-DK" sz="1400" dirty="0"/>
                  <a:t>I</a:t>
                </a:r>
                <a:r>
                  <a:rPr lang="da-DK" sz="1400" baseline="-25000" dirty="0"/>
                  <a:t>&gt;</a:t>
                </a:r>
                <a:r>
                  <a:rPr lang="da-DK" sz="1400" dirty="0"/>
                  <a:t> - kan relateres til sikringselementet og ses i viste kurve</a:t>
                </a:r>
              </a:p>
              <a:p>
                <a:pPr marL="0" indent="0">
                  <a:buNone/>
                </a:pPr>
                <a:endParaRPr lang="da-DK" sz="1400" dirty="0"/>
              </a:p>
              <a:p>
                <a:r>
                  <a:rPr lang="da-DK" sz="1400" dirty="0"/>
                  <a:t>I</a:t>
                </a:r>
                <a:r>
                  <a:rPr lang="da-DK" sz="1400" baseline="-25000" dirty="0"/>
                  <a:t>&gt;&gt;</a:t>
                </a:r>
              </a:p>
              <a:p>
                <a:r>
                  <a:rPr lang="da-DK" sz="1400" dirty="0"/>
                  <a:t>Kan relateres til KB - Kortslutningsbeskyttelse</a:t>
                </a:r>
              </a:p>
              <a:p>
                <a:r>
                  <a:rPr lang="da-DK" sz="1400" dirty="0"/>
                  <a:t>I</a:t>
                </a:r>
                <a:r>
                  <a:rPr lang="da-DK" sz="1400" baseline="-25000" dirty="0"/>
                  <a:t>&gt;&gt;</a:t>
                </a:r>
                <a:r>
                  <a:rPr lang="da-DK" sz="1400" dirty="0"/>
                  <a:t> - Linjerelæet indstilles til kortslutningsberegningen</a:t>
                </a:r>
              </a:p>
              <a:p>
                <a:endParaRPr lang="da-DK" sz="1400" dirty="0"/>
              </a:p>
              <a:p>
                <a:r>
                  <a:rPr lang="da-DK" sz="1400" dirty="0"/>
                  <a:t>Kontrol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da-DK" sz="1400" dirty="0"/>
                  <a:t>IK</a:t>
                </a:r>
                <a:r>
                  <a:rPr lang="da-DK" sz="1400" baseline="-25000" dirty="0"/>
                  <a:t>2faset</a:t>
                </a:r>
                <a:r>
                  <a:rPr lang="da-DK" sz="1400" dirty="0"/>
                  <a:t>·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da-DK" sz="1400"/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da-DK" sz="1400"/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da-DK" sz="1400" i="0"/>
                              <m:t>t</m:t>
                            </m:r>
                          </m:e>
                          <m:sub>
                            <m:sSub>
                              <m:sSubPr>
                                <m:ctrlPr>
                                  <a:rPr lang="da-DK" sz="1400"/>
                                </m:ctrlPr>
                              </m:sSubPr>
                              <m:e>
                                <m:r>
                                  <a:rPr lang="da-DK" sz="1400" i="0"/>
                                  <m:t>≫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a-DK" sz="1400" i="0"/>
                                  <m:t>max</m:t>
                                </m:r>
                              </m:sub>
                            </m:sSub>
                          </m:sub>
                        </m:sSub>
                        <m:sSub>
                          <m:sSubPr>
                            <m:ctrlPr>
                              <a:rPr lang="da-DK" sz="1400"/>
                            </m:ctrlPr>
                          </m:sSubPr>
                          <m:e>
                            <m:r>
                              <a:rPr lang="da-DK" sz="1400" i="0"/>
                              <m:t>+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da-DK" sz="1400" i="0"/>
                              <m:t>Bryd</m:t>
                            </m:r>
                            <m:sSub>
                              <m:sSubPr>
                                <m:ctrlPr>
                                  <a:rPr lang="da-DK" sz="1400"/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da-DK" sz="1400" i="0"/>
                                  <m:t>e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da-DK" sz="1400" i="0"/>
                                  <m:t>tid</m:t>
                                </m:r>
                              </m:sub>
                            </m:sSub>
                          </m:sub>
                        </m:sSub>
                      </m:e>
                    </m:rad>
                    <m:r>
                      <a:rPr lang="da-DK" sz="1400" i="0"/>
                      <m:t>≤1 </m:t>
                    </m:r>
                    <m:r>
                      <m:rPr>
                        <m:sty m:val="p"/>
                      </m:rPr>
                      <a:rPr lang="da-DK" sz="1400" i="0"/>
                      <m:t>se</m:t>
                    </m:r>
                    <m:sSub>
                      <m:sSubPr>
                        <m:ctrlPr>
                          <a:rPr lang="da-DK" sz="1400"/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 sz="1400" i="0"/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 sz="1400" i="0"/>
                          <m:t>v</m:t>
                        </m:r>
                        <m:r>
                          <a:rPr lang="da-DK" sz="1400" i="0"/>
                          <m:t>æ</m:t>
                        </m:r>
                        <m:r>
                          <m:rPr>
                            <m:sty m:val="p"/>
                          </m:rPr>
                          <a:rPr lang="da-DK" sz="1400" i="0"/>
                          <m:t>rdi</m:t>
                        </m:r>
                      </m:sub>
                    </m:sSub>
                  </m:oMath>
                </a14:m>
                <a:r>
                  <a:rPr lang="da-DK" sz="1400" dirty="0">
                    <a:effectLst/>
                  </a:rPr>
                  <a:t> </a:t>
                </a:r>
                <a:endParaRPr lang="da-DK" sz="1400" dirty="0"/>
              </a:p>
              <a:p>
                <a:pPr marL="0" indent="0">
                  <a:buNone/>
                </a:pPr>
                <a:endParaRPr lang="da-DK" sz="1400" dirty="0"/>
              </a:p>
            </p:txBody>
          </p:sp>
        </mc:Choice>
        <mc:Fallback>
          <p:sp>
            <p:nvSpPr>
              <p:cNvPr id="3" name="Pladsholder til indhold 2">
                <a:extLst>
                  <a:ext uri="{FF2B5EF4-FFF2-40B4-BE49-F238E27FC236}">
                    <a16:creationId xmlns:a16="http://schemas.microsoft.com/office/drawing/2014/main" id="{509CB8DF-31F5-1047-BAB9-AF19B6327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301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itel 1">
            <a:extLst>
              <a:ext uri="{FF2B5EF4-FFF2-40B4-BE49-F238E27FC236}">
                <a16:creationId xmlns:a16="http://schemas.microsoft.com/office/drawing/2014/main" id="{96AD4C47-1256-C04B-B4D1-AE5F4E005FAF}"/>
              </a:ext>
            </a:extLst>
          </p:cNvPr>
          <p:cNvSpPr txBox="1">
            <a:spLocks/>
          </p:cNvSpPr>
          <p:nvPr/>
        </p:nvSpPr>
        <p:spPr>
          <a:xfrm>
            <a:off x="1103312" y="1003683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da-DK" sz="2400" dirty="0"/>
              <a:t>I</a:t>
            </a:r>
            <a:r>
              <a:rPr lang="da-DK" sz="2400" baseline="-25000" dirty="0"/>
              <a:t>&gt; </a:t>
            </a:r>
            <a:r>
              <a:rPr lang="da-DK" sz="2400" dirty="0"/>
              <a:t>- I</a:t>
            </a:r>
            <a:r>
              <a:rPr lang="da-DK" sz="2400" baseline="-25000" dirty="0"/>
              <a:t>&gt;&gt;</a:t>
            </a:r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BA5D786D-21F4-C04C-8AAB-9CCA16B5287D}"/>
              </a:ext>
            </a:extLst>
          </p:cNvPr>
          <p:cNvCxnSpPr>
            <a:cxnSpLocks/>
          </p:cNvCxnSpPr>
          <p:nvPr/>
        </p:nvCxnSpPr>
        <p:spPr>
          <a:xfrm>
            <a:off x="7361643" y="2337847"/>
            <a:ext cx="0" cy="2865749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ge forbindelse 6">
            <a:extLst>
              <a:ext uri="{FF2B5EF4-FFF2-40B4-BE49-F238E27FC236}">
                <a16:creationId xmlns:a16="http://schemas.microsoft.com/office/drawing/2014/main" id="{821FA5B5-1F95-7C4F-BA0A-A52CFACA2919}"/>
              </a:ext>
            </a:extLst>
          </p:cNvPr>
          <p:cNvCxnSpPr>
            <a:cxnSpLocks/>
          </p:cNvCxnSpPr>
          <p:nvPr/>
        </p:nvCxnSpPr>
        <p:spPr>
          <a:xfrm flipH="1">
            <a:off x="7361643" y="5203596"/>
            <a:ext cx="3344944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kstfelt 9">
            <a:extLst>
              <a:ext uri="{FF2B5EF4-FFF2-40B4-BE49-F238E27FC236}">
                <a16:creationId xmlns:a16="http://schemas.microsoft.com/office/drawing/2014/main" id="{1B04947F-A7B5-9E41-A00E-4689A8A69C1F}"/>
              </a:ext>
            </a:extLst>
          </p:cNvPr>
          <p:cNvSpPr txBox="1"/>
          <p:nvPr/>
        </p:nvSpPr>
        <p:spPr>
          <a:xfrm>
            <a:off x="7211505" y="2052918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tid</a:t>
            </a:r>
          </a:p>
        </p:txBody>
      </p:sp>
      <p:sp>
        <p:nvSpPr>
          <p:cNvPr id="11" name="Tekstfelt 10">
            <a:extLst>
              <a:ext uri="{FF2B5EF4-FFF2-40B4-BE49-F238E27FC236}">
                <a16:creationId xmlns:a16="http://schemas.microsoft.com/office/drawing/2014/main" id="{DC083B91-0FEF-2C40-9935-5F21E2D14FAF}"/>
              </a:ext>
            </a:extLst>
          </p:cNvPr>
          <p:cNvSpPr txBox="1"/>
          <p:nvPr/>
        </p:nvSpPr>
        <p:spPr>
          <a:xfrm>
            <a:off x="7104725" y="4788115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t</a:t>
            </a:r>
            <a:r>
              <a:rPr lang="da-DK" sz="800" baseline="-25000" dirty="0"/>
              <a:t>&gt;&gt;</a:t>
            </a:r>
          </a:p>
        </p:txBody>
      </p:sp>
      <p:sp>
        <p:nvSpPr>
          <p:cNvPr id="12" name="Tekstfelt 11">
            <a:extLst>
              <a:ext uri="{FF2B5EF4-FFF2-40B4-BE49-F238E27FC236}">
                <a16:creationId xmlns:a16="http://schemas.microsoft.com/office/drawing/2014/main" id="{5844E3A0-57BE-EE43-B263-FC8827F328E0}"/>
              </a:ext>
            </a:extLst>
          </p:cNvPr>
          <p:cNvSpPr txBox="1"/>
          <p:nvPr/>
        </p:nvSpPr>
        <p:spPr>
          <a:xfrm>
            <a:off x="7104725" y="3627414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t</a:t>
            </a:r>
            <a:r>
              <a:rPr lang="da-DK" sz="800" baseline="-25000" dirty="0"/>
              <a:t>&gt;</a:t>
            </a:r>
          </a:p>
        </p:txBody>
      </p:sp>
      <p:sp>
        <p:nvSpPr>
          <p:cNvPr id="13" name="Tekstfelt 12">
            <a:extLst>
              <a:ext uri="{FF2B5EF4-FFF2-40B4-BE49-F238E27FC236}">
                <a16:creationId xmlns:a16="http://schemas.microsoft.com/office/drawing/2014/main" id="{3BC7076B-3A9C-2B4B-8ABC-513743DB6FF8}"/>
              </a:ext>
            </a:extLst>
          </p:cNvPr>
          <p:cNvSpPr txBox="1"/>
          <p:nvPr/>
        </p:nvSpPr>
        <p:spPr>
          <a:xfrm>
            <a:off x="8012783" y="5165328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I</a:t>
            </a:r>
            <a:r>
              <a:rPr lang="da-DK" sz="800" baseline="-25000" dirty="0"/>
              <a:t>&gt;</a:t>
            </a:r>
          </a:p>
        </p:txBody>
      </p:sp>
      <p:sp>
        <p:nvSpPr>
          <p:cNvPr id="14" name="Tekstfelt 13">
            <a:extLst>
              <a:ext uri="{FF2B5EF4-FFF2-40B4-BE49-F238E27FC236}">
                <a16:creationId xmlns:a16="http://schemas.microsoft.com/office/drawing/2014/main" id="{28082CCB-D548-3549-8FBD-6ED9EB29266A}"/>
              </a:ext>
            </a:extLst>
          </p:cNvPr>
          <p:cNvSpPr txBox="1"/>
          <p:nvPr/>
        </p:nvSpPr>
        <p:spPr>
          <a:xfrm>
            <a:off x="9483809" y="5165328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I</a:t>
            </a:r>
            <a:r>
              <a:rPr lang="da-DK" sz="800" baseline="-25000" dirty="0"/>
              <a:t>&gt;&gt;</a:t>
            </a:r>
          </a:p>
        </p:txBody>
      </p:sp>
      <p:cxnSp>
        <p:nvCxnSpPr>
          <p:cNvPr id="15" name="Lige forbindelse 14">
            <a:extLst>
              <a:ext uri="{FF2B5EF4-FFF2-40B4-BE49-F238E27FC236}">
                <a16:creationId xmlns:a16="http://schemas.microsoft.com/office/drawing/2014/main" id="{6F69D7C1-66D6-E24A-8C3E-5B1204D82F98}"/>
              </a:ext>
            </a:extLst>
          </p:cNvPr>
          <p:cNvCxnSpPr>
            <a:cxnSpLocks/>
          </p:cNvCxnSpPr>
          <p:nvPr/>
        </p:nvCxnSpPr>
        <p:spPr>
          <a:xfrm flipH="1">
            <a:off x="9615341" y="4902973"/>
            <a:ext cx="1091246" cy="0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ge forbindelse 16">
            <a:extLst>
              <a:ext uri="{FF2B5EF4-FFF2-40B4-BE49-F238E27FC236}">
                <a16:creationId xmlns:a16="http://schemas.microsoft.com/office/drawing/2014/main" id="{5BE41444-125E-E441-9252-7C32740F4496}"/>
              </a:ext>
            </a:extLst>
          </p:cNvPr>
          <p:cNvCxnSpPr>
            <a:cxnSpLocks/>
          </p:cNvCxnSpPr>
          <p:nvPr/>
        </p:nvCxnSpPr>
        <p:spPr>
          <a:xfrm flipV="1">
            <a:off x="9615341" y="4668421"/>
            <a:ext cx="0" cy="234552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ue 18">
            <a:extLst>
              <a:ext uri="{FF2B5EF4-FFF2-40B4-BE49-F238E27FC236}">
                <a16:creationId xmlns:a16="http://schemas.microsoft.com/office/drawing/2014/main" id="{D925772B-A4EC-604D-9684-64638092FF4B}"/>
              </a:ext>
            </a:extLst>
          </p:cNvPr>
          <p:cNvSpPr/>
          <p:nvPr/>
        </p:nvSpPr>
        <p:spPr>
          <a:xfrm rot="10800000">
            <a:off x="8052169" y="1745066"/>
            <a:ext cx="3124169" cy="2923354"/>
          </a:xfrm>
          <a:prstGeom prst="arc">
            <a:avLst>
              <a:gd name="adj1" fmla="val 16200000"/>
              <a:gd name="adj2" fmla="val 105987"/>
            </a:avLst>
          </a:prstGeom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20" name="Lige forbindelse 19">
            <a:extLst>
              <a:ext uri="{FF2B5EF4-FFF2-40B4-BE49-F238E27FC236}">
                <a16:creationId xmlns:a16="http://schemas.microsoft.com/office/drawing/2014/main" id="{9F9372EB-3403-714C-9380-51A6BE0A78E8}"/>
              </a:ext>
            </a:extLst>
          </p:cNvPr>
          <p:cNvCxnSpPr>
            <a:cxnSpLocks/>
          </p:cNvCxnSpPr>
          <p:nvPr/>
        </p:nvCxnSpPr>
        <p:spPr>
          <a:xfrm flipH="1">
            <a:off x="7361643" y="4902973"/>
            <a:ext cx="2225798" cy="19662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Lige forbindelse 22">
            <a:extLst>
              <a:ext uri="{FF2B5EF4-FFF2-40B4-BE49-F238E27FC236}">
                <a16:creationId xmlns:a16="http://schemas.microsoft.com/office/drawing/2014/main" id="{E9CE71E6-603F-CF4B-8095-57535259DFAE}"/>
              </a:ext>
            </a:extLst>
          </p:cNvPr>
          <p:cNvCxnSpPr>
            <a:cxnSpLocks/>
          </p:cNvCxnSpPr>
          <p:nvPr/>
        </p:nvCxnSpPr>
        <p:spPr>
          <a:xfrm flipH="1">
            <a:off x="7361643" y="3758937"/>
            <a:ext cx="782540" cy="0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Lige forbindelse 23">
            <a:extLst>
              <a:ext uri="{FF2B5EF4-FFF2-40B4-BE49-F238E27FC236}">
                <a16:creationId xmlns:a16="http://schemas.microsoft.com/office/drawing/2014/main" id="{671E2C00-A9C4-2D44-95F1-E97F54ECA013}"/>
              </a:ext>
            </a:extLst>
          </p:cNvPr>
          <p:cNvCxnSpPr>
            <a:cxnSpLocks/>
          </p:cNvCxnSpPr>
          <p:nvPr/>
        </p:nvCxnSpPr>
        <p:spPr>
          <a:xfrm flipV="1">
            <a:off x="8149971" y="3735137"/>
            <a:ext cx="0" cy="1468459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Lige forbindelse 25">
            <a:extLst>
              <a:ext uri="{FF2B5EF4-FFF2-40B4-BE49-F238E27FC236}">
                <a16:creationId xmlns:a16="http://schemas.microsoft.com/office/drawing/2014/main" id="{D62009FC-3D70-1449-AA67-A8E0E2CB4526}"/>
              </a:ext>
            </a:extLst>
          </p:cNvPr>
          <p:cNvCxnSpPr>
            <a:cxnSpLocks/>
          </p:cNvCxnSpPr>
          <p:nvPr/>
        </p:nvCxnSpPr>
        <p:spPr>
          <a:xfrm flipV="1">
            <a:off x="9614615" y="4922635"/>
            <a:ext cx="0" cy="288192"/>
          </a:xfrm>
          <a:prstGeom prst="line">
            <a:avLst/>
          </a:prstGeom>
          <a:ln w="9525" cap="flat" cmpd="sng" algn="ctr">
            <a:solidFill>
              <a:schemeClr val="accent5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4" name="Tekstfelt 33">
            <a:extLst>
              <a:ext uri="{FF2B5EF4-FFF2-40B4-BE49-F238E27FC236}">
                <a16:creationId xmlns:a16="http://schemas.microsoft.com/office/drawing/2014/main" id="{99F6856D-5026-9447-824E-7A4DEE50CEBC}"/>
              </a:ext>
            </a:extLst>
          </p:cNvPr>
          <p:cNvSpPr txBox="1"/>
          <p:nvPr/>
        </p:nvSpPr>
        <p:spPr>
          <a:xfrm>
            <a:off x="10693635" y="5095874"/>
            <a:ext cx="16025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800" dirty="0"/>
              <a:t>strøm</a:t>
            </a:r>
          </a:p>
        </p:txBody>
      </p:sp>
      <p:cxnSp>
        <p:nvCxnSpPr>
          <p:cNvPr id="5" name="Lige forbindelse 4">
            <a:extLst>
              <a:ext uri="{FF2B5EF4-FFF2-40B4-BE49-F238E27FC236}">
                <a16:creationId xmlns:a16="http://schemas.microsoft.com/office/drawing/2014/main" id="{8B919AA1-E042-864E-BCB4-1FD6391B8302}"/>
              </a:ext>
            </a:extLst>
          </p:cNvPr>
          <p:cNvCxnSpPr>
            <a:cxnSpLocks/>
          </p:cNvCxnSpPr>
          <p:nvPr/>
        </p:nvCxnSpPr>
        <p:spPr>
          <a:xfrm flipV="1">
            <a:off x="7369001" y="5156590"/>
            <a:ext cx="1119129" cy="39776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ge forbindelse 21">
            <a:extLst>
              <a:ext uri="{FF2B5EF4-FFF2-40B4-BE49-F238E27FC236}">
                <a16:creationId xmlns:a16="http://schemas.microsoft.com/office/drawing/2014/main" id="{9629C732-4C68-7842-BB88-928023F18C45}"/>
              </a:ext>
            </a:extLst>
          </p:cNvPr>
          <p:cNvCxnSpPr>
            <a:cxnSpLocks/>
          </p:cNvCxnSpPr>
          <p:nvPr/>
        </p:nvCxnSpPr>
        <p:spPr>
          <a:xfrm flipV="1">
            <a:off x="7365306" y="5058044"/>
            <a:ext cx="1893551" cy="13832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ge forbindelse 24">
            <a:extLst>
              <a:ext uri="{FF2B5EF4-FFF2-40B4-BE49-F238E27FC236}">
                <a16:creationId xmlns:a16="http://schemas.microsoft.com/office/drawing/2014/main" id="{8CD23B65-1B47-014F-967F-CFB9E4492B20}"/>
              </a:ext>
            </a:extLst>
          </p:cNvPr>
          <p:cNvCxnSpPr>
            <a:cxnSpLocks/>
          </p:cNvCxnSpPr>
          <p:nvPr/>
        </p:nvCxnSpPr>
        <p:spPr>
          <a:xfrm flipV="1">
            <a:off x="7359713" y="4942474"/>
            <a:ext cx="2462706" cy="25993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ge forbindelse 30">
            <a:extLst>
              <a:ext uri="{FF2B5EF4-FFF2-40B4-BE49-F238E27FC236}">
                <a16:creationId xmlns:a16="http://schemas.microsoft.com/office/drawing/2014/main" id="{BB06F93E-A8D9-1D4D-BB8B-A755DAE67230}"/>
              </a:ext>
            </a:extLst>
          </p:cNvPr>
          <p:cNvCxnSpPr>
            <a:cxnSpLocks/>
          </p:cNvCxnSpPr>
          <p:nvPr/>
        </p:nvCxnSpPr>
        <p:spPr>
          <a:xfrm flipV="1">
            <a:off x="6802403" y="5454156"/>
            <a:ext cx="162972" cy="1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ge forbindelse 34">
            <a:extLst>
              <a:ext uri="{FF2B5EF4-FFF2-40B4-BE49-F238E27FC236}">
                <a16:creationId xmlns:a16="http://schemas.microsoft.com/office/drawing/2014/main" id="{8BC73BE5-563F-5A4B-861F-2E5DC6905D4D}"/>
              </a:ext>
            </a:extLst>
          </p:cNvPr>
          <p:cNvCxnSpPr>
            <a:cxnSpLocks/>
          </p:cNvCxnSpPr>
          <p:nvPr/>
        </p:nvCxnSpPr>
        <p:spPr>
          <a:xfrm flipV="1">
            <a:off x="6802403" y="5301931"/>
            <a:ext cx="162972" cy="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ge forbindelse 35">
            <a:extLst>
              <a:ext uri="{FF2B5EF4-FFF2-40B4-BE49-F238E27FC236}">
                <a16:creationId xmlns:a16="http://schemas.microsoft.com/office/drawing/2014/main" id="{CBEF3120-6977-114B-9535-79DBCF6BACE5}"/>
              </a:ext>
            </a:extLst>
          </p:cNvPr>
          <p:cNvCxnSpPr>
            <a:cxnSpLocks/>
          </p:cNvCxnSpPr>
          <p:nvPr/>
        </p:nvCxnSpPr>
        <p:spPr>
          <a:xfrm flipV="1">
            <a:off x="6802403" y="5161944"/>
            <a:ext cx="162972" cy="1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kstfelt 36">
            <a:extLst>
              <a:ext uri="{FF2B5EF4-FFF2-40B4-BE49-F238E27FC236}">
                <a16:creationId xmlns:a16="http://schemas.microsoft.com/office/drawing/2014/main" id="{91B8F7E6-A058-B447-B133-C495B464454C}"/>
              </a:ext>
            </a:extLst>
          </p:cNvPr>
          <p:cNvSpPr txBox="1"/>
          <p:nvPr/>
        </p:nvSpPr>
        <p:spPr>
          <a:xfrm>
            <a:off x="6289882" y="5066731"/>
            <a:ext cx="515063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Start på T1</a:t>
            </a:r>
          </a:p>
        </p:txBody>
      </p:sp>
      <p:sp>
        <p:nvSpPr>
          <p:cNvPr id="38" name="Tekstfelt 37">
            <a:extLst>
              <a:ext uri="{FF2B5EF4-FFF2-40B4-BE49-F238E27FC236}">
                <a16:creationId xmlns:a16="http://schemas.microsoft.com/office/drawing/2014/main" id="{0D4F2D4D-D9C1-DE4A-8DE3-ED2D06B462C6}"/>
              </a:ext>
            </a:extLst>
          </p:cNvPr>
          <p:cNvSpPr txBox="1"/>
          <p:nvPr/>
        </p:nvSpPr>
        <p:spPr>
          <a:xfrm>
            <a:off x="6205853" y="5211495"/>
            <a:ext cx="59655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I 2k max - sek</a:t>
            </a:r>
          </a:p>
        </p:txBody>
      </p:sp>
      <p:sp>
        <p:nvSpPr>
          <p:cNvPr id="39" name="Tekstfelt 38">
            <a:extLst>
              <a:ext uri="{FF2B5EF4-FFF2-40B4-BE49-F238E27FC236}">
                <a16:creationId xmlns:a16="http://schemas.microsoft.com/office/drawing/2014/main" id="{4A2A91B7-3B4B-4B44-B9C5-4A4D14285B9D}"/>
              </a:ext>
            </a:extLst>
          </p:cNvPr>
          <p:cNvSpPr txBox="1"/>
          <p:nvPr/>
        </p:nvSpPr>
        <p:spPr>
          <a:xfrm>
            <a:off x="6072373" y="5375994"/>
            <a:ext cx="8032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500" dirty="0"/>
              <a:t>IK 2 faset til skærm</a:t>
            </a:r>
          </a:p>
        </p:txBody>
      </p:sp>
    </p:spTree>
    <p:extLst>
      <p:ext uri="{BB962C8B-B14F-4D97-AF65-F5344CB8AC3E}">
        <p14:creationId xmlns:p14="http://schemas.microsoft.com/office/powerpoint/2010/main" val="42321872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{9037C379-281D-D546-9CDB-20D71457459D}tf10001062</Template>
  <TotalTime>164</TotalTime>
  <Words>142</Words>
  <Application>Microsoft Macintosh PowerPoint</Application>
  <PresentationFormat>Widescreen</PresentationFormat>
  <Paragraphs>46</Paragraphs>
  <Slides>5</Slides>
  <Notes>1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5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5</vt:i4>
      </vt:variant>
    </vt:vector>
  </HeadingPairs>
  <TitlesOfParts>
    <vt:vector size="11" baseType="lpstr">
      <vt:lpstr>Arial</vt:lpstr>
      <vt:lpstr>Calibri</vt:lpstr>
      <vt:lpstr>Century Gothic</vt:lpstr>
      <vt:lpstr>Wingdings</vt:lpstr>
      <vt:lpstr>Wingdings 3</vt:lpstr>
      <vt:lpstr>Ion</vt:lpstr>
      <vt:lpstr>Linjerelæ</vt:lpstr>
      <vt:lpstr>PowerPoint-præsentation</vt:lpstr>
      <vt:lpstr>Impedanser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Dimensionering af trafo</dc:title>
  <dc:creator>Nicolai Alexander Skjershede</dc:creator>
  <cp:lastModifiedBy>Nicolai Alexander Skjershede</cp:lastModifiedBy>
  <cp:revision>17</cp:revision>
  <dcterms:created xsi:type="dcterms:W3CDTF">2021-04-04T16:29:49Z</dcterms:created>
  <dcterms:modified xsi:type="dcterms:W3CDTF">2021-04-05T09:38:51Z</dcterms:modified>
</cp:coreProperties>
</file>