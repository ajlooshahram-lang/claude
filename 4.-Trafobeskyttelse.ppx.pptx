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DE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DF18680-E054-41AD-8BC1-D1AEF772440D}" styleName="Mellemlayout 2 - Markering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81"/>
  </p:normalViewPr>
  <p:slideViewPr>
    <p:cSldViewPr snapToGrid="0" snapToObjects="1">
      <p:cViewPr>
        <p:scale>
          <a:sx n="87" d="100"/>
          <a:sy n="87" d="100"/>
        </p:scale>
        <p:origin x="1536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F5953-2162-8C47-83A6-19977CBA448E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BE886-EB35-5B4D-A3C3-4607C4882CE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7234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1832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33693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64897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15666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77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65470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68154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0892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06496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k 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3470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1307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da-DK"/>
              <a:t>Klik for at redigere teksttypografierne i masteren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1857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60665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93455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99638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5403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369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297360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n sidevisning af en abstrakt hvid og grå Flet i sfære form-visning">
            <a:extLst>
              <a:ext uri="{FF2B5EF4-FFF2-40B4-BE49-F238E27FC236}">
                <a16:creationId xmlns:a16="http://schemas.microsoft.com/office/drawing/2014/main" id="{58AFE352-5582-1742-84C8-6AF17646FD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l="9091" t="25889"/>
          <a:stretch/>
        </p:blipFill>
        <p:spPr>
          <a:xfrm>
            <a:off x="20" y="302022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2ABB5F1-03F8-4349-91DD-77EF2C4AE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0932" y="3126983"/>
            <a:ext cx="9194533" cy="604034"/>
          </a:xfrm>
        </p:spPr>
        <p:txBody>
          <a:bodyPr>
            <a:noAutofit/>
          </a:bodyPr>
          <a:lstStyle/>
          <a:p>
            <a:r>
              <a:rPr lang="da-DK" sz="6000" dirty="0"/>
              <a:t>Transformerbeskyttelse</a:t>
            </a:r>
          </a:p>
        </p:txBody>
      </p:sp>
    </p:spTree>
    <p:extLst>
      <p:ext uri="{BB962C8B-B14F-4D97-AF65-F5344CB8AC3E}">
        <p14:creationId xmlns:p14="http://schemas.microsoft.com/office/powerpoint/2010/main" val="1366206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F61345C-91B7-4F4F-AB72-19C914EDC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7 punktplan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Sikringselement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I</a:t>
            </a:r>
            <a:r>
              <a:rPr lang="da-DK" sz="1200" baseline="-25000" dirty="0"/>
              <a:t>inrush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Selektivitet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Producent forbehold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Kortslutningsbeskyttelse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Brydestrøm</a:t>
            </a:r>
          </a:p>
          <a:p>
            <a:r>
              <a:rPr lang="da-DK" sz="1400" dirty="0"/>
              <a:t>10 % reglen</a:t>
            </a:r>
          </a:p>
          <a:p>
            <a:endParaRPr lang="da-DK" sz="1400" baseline="-25000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843E6AEB-0D73-D44E-BA8B-9685F7F8400A}"/>
              </a:ext>
            </a:extLst>
          </p:cNvPr>
          <p:cNvSpPr txBox="1">
            <a:spLocks/>
          </p:cNvSpPr>
          <p:nvPr/>
        </p:nvSpPr>
        <p:spPr>
          <a:xfrm>
            <a:off x="1103312" y="998912"/>
            <a:ext cx="5662613" cy="60403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500" dirty="0">
                <a:cs typeface="Calibri" panose="020F0502020204030204" pitchFamily="34" charset="0"/>
              </a:rPr>
              <a:t>Disposition</a:t>
            </a:r>
            <a:r>
              <a:rPr lang="da-DK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5570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014810C-4BFC-1944-96D3-D7995FD95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1) Valg af sikring - Primærside</a:t>
            </a:r>
          </a:p>
          <a:p>
            <a:pPr lvl="1">
              <a:buFont typeface="Wingdings" pitchFamily="2" charset="2"/>
              <a:buChar char="Ø"/>
            </a:pPr>
            <a:r>
              <a:rPr lang="da-DK" sz="1000" dirty="0"/>
              <a:t>Mærkeplade</a:t>
            </a:r>
          </a:p>
          <a:p>
            <a:pPr lvl="1">
              <a:buFont typeface="Wingdings" pitchFamily="2" charset="2"/>
              <a:buChar char="Ø"/>
            </a:pPr>
            <a:r>
              <a:rPr lang="da-DK" sz="1000" dirty="0"/>
              <a:t>+/- 5 %</a:t>
            </a:r>
          </a:p>
          <a:p>
            <a:pPr marL="457200" lvl="1" indent="0">
              <a:buNone/>
            </a:pPr>
            <a:endParaRPr lang="da-DK" sz="1200" dirty="0"/>
          </a:p>
          <a:p>
            <a:r>
              <a:rPr lang="da-DK" sz="1400" dirty="0"/>
              <a:t>2) Kontrol af sikring</a:t>
            </a:r>
          </a:p>
          <a:p>
            <a:pPr lvl="1">
              <a:buFont typeface="Wingdings" pitchFamily="2" charset="2"/>
              <a:buChar char="Ø"/>
            </a:pPr>
            <a:r>
              <a:rPr lang="da-DK" sz="1000" dirty="0"/>
              <a:t>Trafoens fuldlaststrøm</a:t>
            </a:r>
            <a:endParaRPr lang="da-DK" sz="1000" baseline="-25000" dirty="0"/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I</a:t>
            </a:r>
            <a:r>
              <a:rPr lang="da-DK" sz="1200" baseline="-25000" dirty="0"/>
              <a:t>trafo fuldlast </a:t>
            </a:r>
            <a:r>
              <a:rPr lang="da-DK" sz="1200" dirty="0"/>
              <a:t>&lt; valgt sikring </a:t>
            </a:r>
            <a:endParaRPr lang="da-DK" sz="1400" dirty="0"/>
          </a:p>
          <a:p>
            <a:endParaRPr lang="da-DK" sz="14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1D768CFB-B7C8-D547-A1F8-1DC20D582DB5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Sikringselement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8136E137-DEAF-794C-AC21-2F4F4AAB1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520" y="2052918"/>
            <a:ext cx="38227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828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09CB8DF-31F5-1047-BAB9-AF19B6327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1E5155">
                  <a:lumMod val="40000"/>
                  <a:lumOff val="60000"/>
                </a:srgbClr>
              </a:buClr>
            </a:pPr>
            <a:r>
              <a:rPr lang="da-DK" sz="1400" dirty="0">
                <a:solidFill>
                  <a:prstClr val="white"/>
                </a:solidFill>
              </a:rPr>
              <a:t>Tændingsstrøm</a:t>
            </a:r>
          </a:p>
          <a:p>
            <a:pPr lvl="1">
              <a:buClr>
                <a:srgbClr val="1E5155">
                  <a:lumMod val="40000"/>
                  <a:lumOff val="60000"/>
                </a:srgbClr>
              </a:buClr>
              <a:buFont typeface="Wingdings" pitchFamily="2" charset="2"/>
              <a:buChar char="Ø"/>
            </a:pPr>
            <a:r>
              <a:rPr lang="da-DK" sz="1200" dirty="0">
                <a:solidFill>
                  <a:prstClr val="white"/>
                </a:solidFill>
              </a:rPr>
              <a:t>Varer kort tid</a:t>
            </a:r>
          </a:p>
          <a:p>
            <a:pPr lvl="0">
              <a:buClr>
                <a:srgbClr val="1E5155">
                  <a:lumMod val="40000"/>
                  <a:lumOff val="60000"/>
                </a:srgbClr>
              </a:buClr>
            </a:pPr>
            <a:r>
              <a:rPr lang="da-DK" sz="1400" dirty="0">
                <a:solidFill>
                  <a:prstClr val="white"/>
                </a:solidFill>
              </a:rPr>
              <a:t>Inrush på trafoer</a:t>
            </a:r>
          </a:p>
          <a:p>
            <a:pPr lvl="1">
              <a:buClr>
                <a:srgbClr val="1E5155">
                  <a:lumMod val="40000"/>
                  <a:lumOff val="60000"/>
                </a:srgbClr>
              </a:buClr>
              <a:buFont typeface="Wingdings" pitchFamily="2" charset="2"/>
              <a:buChar char="Ø"/>
            </a:pPr>
            <a:r>
              <a:rPr lang="da-DK" sz="1200" dirty="0">
                <a:solidFill>
                  <a:prstClr val="white"/>
                </a:solidFill>
              </a:rPr>
              <a:t>Imellem 12-15 gange fuldlaststrømmen</a:t>
            </a:r>
          </a:p>
          <a:p>
            <a:pPr lvl="0">
              <a:buClr>
                <a:srgbClr val="1E5155">
                  <a:lumMod val="40000"/>
                  <a:lumOff val="60000"/>
                </a:srgbClr>
              </a:buClr>
            </a:pPr>
            <a:r>
              <a:rPr lang="da-DK" sz="1400" dirty="0">
                <a:solidFill>
                  <a:prstClr val="white"/>
                </a:solidFill>
              </a:rPr>
              <a:t>Valg af sikring</a:t>
            </a:r>
          </a:p>
          <a:p>
            <a:pPr lvl="1">
              <a:buClr>
                <a:srgbClr val="1E5155">
                  <a:lumMod val="40000"/>
                  <a:lumOff val="60000"/>
                </a:srgbClr>
              </a:buClr>
              <a:buFont typeface="Wingdings" pitchFamily="2" charset="2"/>
              <a:buChar char="Ø"/>
            </a:pPr>
            <a:r>
              <a:rPr lang="da-DK" sz="1200" dirty="0">
                <a:solidFill>
                  <a:prstClr val="white"/>
                </a:solidFill>
              </a:rPr>
              <a:t>Højspændingssikringen skal holde Inrushstrømmen</a:t>
            </a:r>
          </a:p>
          <a:p>
            <a:pPr lvl="1">
              <a:buClr>
                <a:srgbClr val="1E5155">
                  <a:lumMod val="40000"/>
                  <a:lumOff val="60000"/>
                </a:srgbClr>
              </a:buClr>
              <a:buFont typeface="Wingdings" pitchFamily="2" charset="2"/>
              <a:buChar char="Ø"/>
            </a:pPr>
            <a:r>
              <a:rPr lang="da-DK" sz="1200" dirty="0">
                <a:solidFill>
                  <a:prstClr val="white"/>
                </a:solidFill>
              </a:rPr>
              <a:t>Illustreres på tavlen </a:t>
            </a:r>
            <a:endParaRPr lang="da-DK" sz="1400" dirty="0"/>
          </a:p>
          <a:p>
            <a:endParaRPr lang="da-DK" sz="1400" dirty="0"/>
          </a:p>
          <a:p>
            <a:pPr marL="0" indent="0">
              <a:buNone/>
            </a:pPr>
            <a:endParaRPr lang="da-DK" sz="14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96AD4C47-1256-C04B-B4D1-AE5F4E005FAF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3) - I</a:t>
            </a:r>
            <a:r>
              <a:rPr lang="da-DK" sz="2400" baseline="-25000" dirty="0"/>
              <a:t>inrush</a:t>
            </a:r>
          </a:p>
        </p:txBody>
      </p:sp>
      <p:cxnSp>
        <p:nvCxnSpPr>
          <p:cNvPr id="6" name="Lige forbindelse 5">
            <a:extLst>
              <a:ext uri="{FF2B5EF4-FFF2-40B4-BE49-F238E27FC236}">
                <a16:creationId xmlns:a16="http://schemas.microsoft.com/office/drawing/2014/main" id="{027DD6C2-1DBE-7D42-8EA5-E062A05E0E85}"/>
              </a:ext>
            </a:extLst>
          </p:cNvPr>
          <p:cNvCxnSpPr>
            <a:cxnSpLocks/>
          </p:cNvCxnSpPr>
          <p:nvPr/>
        </p:nvCxnSpPr>
        <p:spPr>
          <a:xfrm>
            <a:off x="6143501" y="1351807"/>
            <a:ext cx="0" cy="305393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Lige forbindelse 15">
            <a:extLst>
              <a:ext uri="{FF2B5EF4-FFF2-40B4-BE49-F238E27FC236}">
                <a16:creationId xmlns:a16="http://schemas.microsoft.com/office/drawing/2014/main" id="{87343D01-961B-744A-9C4A-2A6C734E74A7}"/>
              </a:ext>
            </a:extLst>
          </p:cNvPr>
          <p:cNvCxnSpPr>
            <a:cxnSpLocks/>
          </p:cNvCxnSpPr>
          <p:nvPr/>
        </p:nvCxnSpPr>
        <p:spPr>
          <a:xfrm flipH="1">
            <a:off x="6143502" y="4405745"/>
            <a:ext cx="3689267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kstfelt 16">
            <a:extLst>
              <a:ext uri="{FF2B5EF4-FFF2-40B4-BE49-F238E27FC236}">
                <a16:creationId xmlns:a16="http://schemas.microsoft.com/office/drawing/2014/main" id="{0365900F-4089-4747-8690-F131E1013C3D}"/>
              </a:ext>
            </a:extLst>
          </p:cNvPr>
          <p:cNvSpPr txBox="1"/>
          <p:nvPr/>
        </p:nvSpPr>
        <p:spPr>
          <a:xfrm>
            <a:off x="9833750" y="4282634"/>
            <a:ext cx="17456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000" dirty="0"/>
              <a:t>tid</a:t>
            </a: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6BD9DC93-01BA-D24E-A6E3-7BE11874F0AB}"/>
              </a:ext>
            </a:extLst>
          </p:cNvPr>
          <p:cNvSpPr txBox="1"/>
          <p:nvPr/>
        </p:nvSpPr>
        <p:spPr>
          <a:xfrm>
            <a:off x="5904949" y="1091729"/>
            <a:ext cx="17456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000" dirty="0"/>
              <a:t>strøm</a:t>
            </a:r>
          </a:p>
        </p:txBody>
      </p:sp>
      <p:sp>
        <p:nvSpPr>
          <p:cNvPr id="19" name="Kombinationstegning 18">
            <a:extLst>
              <a:ext uri="{FF2B5EF4-FFF2-40B4-BE49-F238E27FC236}">
                <a16:creationId xmlns:a16="http://schemas.microsoft.com/office/drawing/2014/main" id="{8CF01B8D-1524-2548-9732-95A639DEE15F}"/>
              </a:ext>
            </a:extLst>
          </p:cNvPr>
          <p:cNvSpPr/>
          <p:nvPr/>
        </p:nvSpPr>
        <p:spPr>
          <a:xfrm>
            <a:off x="6153845" y="1841769"/>
            <a:ext cx="1448356" cy="2556695"/>
          </a:xfrm>
          <a:custGeom>
            <a:avLst/>
            <a:gdLst>
              <a:gd name="connsiteX0" fmla="*/ 0 w 1448356"/>
              <a:gd name="connsiteY0" fmla="*/ 2556695 h 2556695"/>
              <a:gd name="connsiteX1" fmla="*/ 146838 w 1448356"/>
              <a:gd name="connsiteY1" fmla="*/ 380 h 2556695"/>
              <a:gd name="connsiteX2" fmla="*/ 186885 w 1448356"/>
              <a:gd name="connsiteY2" fmla="*/ 2349787 h 2556695"/>
              <a:gd name="connsiteX3" fmla="*/ 327048 w 1448356"/>
              <a:gd name="connsiteY3" fmla="*/ 367475 h 2556695"/>
              <a:gd name="connsiteX4" fmla="*/ 360421 w 1448356"/>
              <a:gd name="connsiteY4" fmla="*/ 2343113 h 2556695"/>
              <a:gd name="connsiteX5" fmla="*/ 500584 w 1448356"/>
              <a:gd name="connsiteY5" fmla="*/ 641127 h 2556695"/>
              <a:gd name="connsiteX6" fmla="*/ 513933 w 1448356"/>
              <a:gd name="connsiteY6" fmla="*/ 2316415 h 2556695"/>
              <a:gd name="connsiteX7" fmla="*/ 647422 w 1448356"/>
              <a:gd name="connsiteY7" fmla="*/ 861384 h 2556695"/>
              <a:gd name="connsiteX8" fmla="*/ 660771 w 1448356"/>
              <a:gd name="connsiteY8" fmla="*/ 2349787 h 2556695"/>
              <a:gd name="connsiteX9" fmla="*/ 774237 w 1448356"/>
              <a:gd name="connsiteY9" fmla="*/ 1101665 h 2556695"/>
              <a:gd name="connsiteX10" fmla="*/ 780911 w 1448356"/>
              <a:gd name="connsiteY10" fmla="*/ 2343113 h 2556695"/>
              <a:gd name="connsiteX11" fmla="*/ 894377 w 1448356"/>
              <a:gd name="connsiteY11" fmla="*/ 1348619 h 2556695"/>
              <a:gd name="connsiteX12" fmla="*/ 927749 w 1448356"/>
              <a:gd name="connsiteY12" fmla="*/ 2363136 h 2556695"/>
              <a:gd name="connsiteX13" fmla="*/ 1027866 w 1448356"/>
              <a:gd name="connsiteY13" fmla="*/ 1535504 h 2556695"/>
              <a:gd name="connsiteX14" fmla="*/ 1081262 w 1448356"/>
              <a:gd name="connsiteY14" fmla="*/ 2369811 h 2556695"/>
              <a:gd name="connsiteX15" fmla="*/ 1154681 w 1448356"/>
              <a:gd name="connsiteY15" fmla="*/ 1742412 h 2556695"/>
              <a:gd name="connsiteX16" fmla="*/ 1201402 w 1448356"/>
              <a:gd name="connsiteY16" fmla="*/ 2396508 h 2556695"/>
              <a:gd name="connsiteX17" fmla="*/ 1281495 w 1448356"/>
              <a:gd name="connsiteY17" fmla="*/ 1909273 h 2556695"/>
              <a:gd name="connsiteX18" fmla="*/ 1334891 w 1448356"/>
              <a:gd name="connsiteY18" fmla="*/ 2383159 h 2556695"/>
              <a:gd name="connsiteX19" fmla="*/ 1401635 w 1448356"/>
              <a:gd name="connsiteY19" fmla="*/ 2069460 h 2556695"/>
              <a:gd name="connsiteX20" fmla="*/ 1448356 w 1448356"/>
              <a:gd name="connsiteY20" fmla="*/ 2222973 h 2556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448356" h="2556695">
                <a:moveTo>
                  <a:pt x="0" y="2556695"/>
                </a:moveTo>
                <a:cubicBezTo>
                  <a:pt x="57845" y="1295780"/>
                  <a:pt x="115691" y="34865"/>
                  <a:pt x="146838" y="380"/>
                </a:cubicBezTo>
                <a:cubicBezTo>
                  <a:pt x="177986" y="-34105"/>
                  <a:pt x="156850" y="2288605"/>
                  <a:pt x="186885" y="2349787"/>
                </a:cubicBezTo>
                <a:cubicBezTo>
                  <a:pt x="216920" y="2410969"/>
                  <a:pt x="298125" y="368587"/>
                  <a:pt x="327048" y="367475"/>
                </a:cubicBezTo>
                <a:cubicBezTo>
                  <a:pt x="355971" y="366363"/>
                  <a:pt x="331498" y="2297504"/>
                  <a:pt x="360421" y="2343113"/>
                </a:cubicBezTo>
                <a:cubicBezTo>
                  <a:pt x="389344" y="2388722"/>
                  <a:pt x="474999" y="645577"/>
                  <a:pt x="500584" y="641127"/>
                </a:cubicBezTo>
                <a:cubicBezTo>
                  <a:pt x="526169" y="636677"/>
                  <a:pt x="489460" y="2279705"/>
                  <a:pt x="513933" y="2316415"/>
                </a:cubicBezTo>
                <a:cubicBezTo>
                  <a:pt x="538406" y="2353124"/>
                  <a:pt x="622949" y="855822"/>
                  <a:pt x="647422" y="861384"/>
                </a:cubicBezTo>
                <a:cubicBezTo>
                  <a:pt x="671895" y="866946"/>
                  <a:pt x="639635" y="2309740"/>
                  <a:pt x="660771" y="2349787"/>
                </a:cubicBezTo>
                <a:cubicBezTo>
                  <a:pt x="681907" y="2389834"/>
                  <a:pt x="754214" y="1102777"/>
                  <a:pt x="774237" y="1101665"/>
                </a:cubicBezTo>
                <a:cubicBezTo>
                  <a:pt x="794260" y="1100553"/>
                  <a:pt x="760888" y="2301954"/>
                  <a:pt x="780911" y="2343113"/>
                </a:cubicBezTo>
                <a:cubicBezTo>
                  <a:pt x="800934" y="2384272"/>
                  <a:pt x="869904" y="1345282"/>
                  <a:pt x="894377" y="1348619"/>
                </a:cubicBezTo>
                <a:cubicBezTo>
                  <a:pt x="918850" y="1351956"/>
                  <a:pt x="905501" y="2331988"/>
                  <a:pt x="927749" y="2363136"/>
                </a:cubicBezTo>
                <a:cubicBezTo>
                  <a:pt x="949997" y="2394283"/>
                  <a:pt x="1002281" y="1534392"/>
                  <a:pt x="1027866" y="1535504"/>
                </a:cubicBezTo>
                <a:cubicBezTo>
                  <a:pt x="1053451" y="1536616"/>
                  <a:pt x="1060126" y="2335326"/>
                  <a:pt x="1081262" y="2369811"/>
                </a:cubicBezTo>
                <a:cubicBezTo>
                  <a:pt x="1102398" y="2404296"/>
                  <a:pt x="1134658" y="1737962"/>
                  <a:pt x="1154681" y="1742412"/>
                </a:cubicBezTo>
                <a:cubicBezTo>
                  <a:pt x="1174704" y="1746861"/>
                  <a:pt x="1180266" y="2368698"/>
                  <a:pt x="1201402" y="2396508"/>
                </a:cubicBezTo>
                <a:cubicBezTo>
                  <a:pt x="1222538" y="2424318"/>
                  <a:pt x="1259247" y="1911498"/>
                  <a:pt x="1281495" y="1909273"/>
                </a:cubicBezTo>
                <a:cubicBezTo>
                  <a:pt x="1303743" y="1907048"/>
                  <a:pt x="1314868" y="2356461"/>
                  <a:pt x="1334891" y="2383159"/>
                </a:cubicBezTo>
                <a:cubicBezTo>
                  <a:pt x="1354914" y="2409857"/>
                  <a:pt x="1382724" y="2096158"/>
                  <a:pt x="1401635" y="2069460"/>
                </a:cubicBezTo>
                <a:cubicBezTo>
                  <a:pt x="1420546" y="2042762"/>
                  <a:pt x="1434451" y="2132867"/>
                  <a:pt x="1448356" y="2222973"/>
                </a:cubicBez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23" name="Lige forbindelse 22">
            <a:extLst>
              <a:ext uri="{FF2B5EF4-FFF2-40B4-BE49-F238E27FC236}">
                <a16:creationId xmlns:a16="http://schemas.microsoft.com/office/drawing/2014/main" id="{0805E330-BCFA-0549-B990-61F6ADAF9372}"/>
              </a:ext>
            </a:extLst>
          </p:cNvPr>
          <p:cNvCxnSpPr/>
          <p:nvPr/>
        </p:nvCxnSpPr>
        <p:spPr>
          <a:xfrm>
            <a:off x="7602201" y="4067202"/>
            <a:ext cx="185549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kstfelt 23">
            <a:extLst>
              <a:ext uri="{FF2B5EF4-FFF2-40B4-BE49-F238E27FC236}">
                <a16:creationId xmlns:a16="http://schemas.microsoft.com/office/drawing/2014/main" id="{585DE5F8-6D4F-8342-A21A-21CC3946D931}"/>
              </a:ext>
            </a:extLst>
          </p:cNvPr>
          <p:cNvSpPr txBox="1"/>
          <p:nvPr/>
        </p:nvSpPr>
        <p:spPr>
          <a:xfrm>
            <a:off x="6721928" y="1740777"/>
            <a:ext cx="1377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/>
              <a:t>Peak</a:t>
            </a:r>
          </a:p>
        </p:txBody>
      </p:sp>
      <p:cxnSp>
        <p:nvCxnSpPr>
          <p:cNvPr id="26" name="Lige pilforbindelse 25">
            <a:extLst>
              <a:ext uri="{FF2B5EF4-FFF2-40B4-BE49-F238E27FC236}">
                <a16:creationId xmlns:a16="http://schemas.microsoft.com/office/drawing/2014/main" id="{409A87DF-7168-E542-9088-5DE6DDB37625}"/>
              </a:ext>
            </a:extLst>
          </p:cNvPr>
          <p:cNvCxnSpPr/>
          <p:nvPr/>
        </p:nvCxnSpPr>
        <p:spPr>
          <a:xfrm flipH="1">
            <a:off x="6402228" y="1853789"/>
            <a:ext cx="375557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Lige pilforbindelse 29">
            <a:extLst>
              <a:ext uri="{FF2B5EF4-FFF2-40B4-BE49-F238E27FC236}">
                <a16:creationId xmlns:a16="http://schemas.microsoft.com/office/drawing/2014/main" id="{8A5F852C-7F9F-A343-843E-CEFF935EB098}"/>
              </a:ext>
            </a:extLst>
          </p:cNvPr>
          <p:cNvCxnSpPr/>
          <p:nvPr/>
        </p:nvCxnSpPr>
        <p:spPr>
          <a:xfrm flipH="1">
            <a:off x="6957399" y="2942360"/>
            <a:ext cx="375557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kstfelt 30">
            <a:extLst>
              <a:ext uri="{FF2B5EF4-FFF2-40B4-BE49-F238E27FC236}">
                <a16:creationId xmlns:a16="http://schemas.microsoft.com/office/drawing/2014/main" id="{A04F0471-D9BD-F945-A18C-64F02BCFB788}"/>
              </a:ext>
            </a:extLst>
          </p:cNvPr>
          <p:cNvSpPr txBox="1"/>
          <p:nvPr/>
        </p:nvSpPr>
        <p:spPr>
          <a:xfrm>
            <a:off x="7299613" y="2834638"/>
            <a:ext cx="1377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/>
              <a:t>Start</a:t>
            </a:r>
          </a:p>
        </p:txBody>
      </p:sp>
      <p:sp>
        <p:nvSpPr>
          <p:cNvPr id="33" name="Tekstfelt 32">
            <a:extLst>
              <a:ext uri="{FF2B5EF4-FFF2-40B4-BE49-F238E27FC236}">
                <a16:creationId xmlns:a16="http://schemas.microsoft.com/office/drawing/2014/main" id="{8C14E659-378A-F74A-ADBC-7161534840C0}"/>
              </a:ext>
            </a:extLst>
          </p:cNvPr>
          <p:cNvSpPr txBox="1"/>
          <p:nvPr/>
        </p:nvSpPr>
        <p:spPr>
          <a:xfrm>
            <a:off x="8232674" y="3884239"/>
            <a:ext cx="13770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/>
              <a:t>Fast belastning</a:t>
            </a:r>
          </a:p>
        </p:txBody>
      </p:sp>
    </p:spTree>
    <p:extLst>
      <p:ext uri="{BB962C8B-B14F-4D97-AF65-F5344CB8AC3E}">
        <p14:creationId xmlns:p14="http://schemas.microsoft.com/office/powerpoint/2010/main" val="4232187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F18836AB-3D35-814B-A1B0-D46B0ACBE0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sz="1400" dirty="0"/>
                  <a:t>Trafo impedans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da-DK" sz="1200" dirty="0"/>
                  <a:t>Ik</a:t>
                </a:r>
                <a:r>
                  <a:rPr lang="da-DK" sz="1200" baseline="-25000" dirty="0"/>
                  <a:t>trafo 2 faset skærm 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da-DK" sz="1200" dirty="0"/>
                  <a:t>Sikringens smeltetid godkendes via kontrol</a:t>
                </a:r>
              </a:p>
              <a:p>
                <a:r>
                  <a:rPr lang="da-DK" sz="1400" dirty="0"/>
                  <a:t>Ik</a:t>
                </a:r>
                <a:r>
                  <a:rPr lang="da-DK" sz="1400" baseline="-25000" dirty="0"/>
                  <a:t>trafo 3 faset max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da-DK" sz="1200" dirty="0"/>
                  <a:t>Ik</a:t>
                </a:r>
                <a:r>
                  <a:rPr lang="da-DK" sz="1200" baseline="-25000" dirty="0"/>
                  <a:t>trafo 2 faset skærm 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da-DK" sz="1200" dirty="0"/>
                  <a:t>Omsætningstal</a:t>
                </a:r>
              </a:p>
              <a:p>
                <a:r>
                  <a:rPr lang="da-DK" sz="1400" dirty="0"/>
                  <a:t>Kontrol af selektivitet imellem høj &amp; lavspændingssikring</a:t>
                </a:r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sz="1000" i="0"/>
                      <m:t>La</m:t>
                    </m:r>
                    <m:sSub>
                      <m:sSubPr>
                        <m:ctrlPr>
                          <a:rPr lang="da-DK" sz="10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1000" i="0"/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sz="1000" i="0"/>
                          <m:t>sp</m:t>
                        </m:r>
                        <m:r>
                          <a:rPr lang="da-DK" sz="1000" i="0"/>
                          <m:t>æ</m:t>
                        </m:r>
                        <m:r>
                          <m:rPr>
                            <m:sty m:val="p"/>
                          </m:rPr>
                          <a:rPr lang="da-DK" sz="1000" i="0"/>
                          <m:t>ndingssikring</m:t>
                        </m:r>
                      </m:sub>
                    </m:sSub>
                    <m:r>
                      <a:rPr lang="da-DK" sz="1000" i="0"/>
                      <m:t>≤</m:t>
                    </m:r>
                    <m:r>
                      <m:rPr>
                        <m:sty m:val="p"/>
                      </m:rPr>
                      <a:rPr lang="da-DK" sz="1000" i="0"/>
                      <m:t>H</m:t>
                    </m:r>
                    <m:r>
                      <a:rPr lang="da-DK" sz="1000" i="0"/>
                      <m:t>ø</m:t>
                    </m:r>
                    <m:sSub>
                      <m:sSubPr>
                        <m:ctrlPr>
                          <a:rPr lang="da-DK" sz="10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1000" i="0"/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sz="1000" i="0"/>
                          <m:t>sp</m:t>
                        </m:r>
                        <m:r>
                          <a:rPr lang="da-DK" sz="1000" i="0"/>
                          <m:t>æ</m:t>
                        </m:r>
                        <m:r>
                          <m:rPr>
                            <m:sty m:val="p"/>
                          </m:rPr>
                          <a:rPr lang="da-DK" sz="1000" i="0"/>
                          <m:t>ndingssikring</m:t>
                        </m:r>
                      </m:sub>
                    </m:sSub>
                    <m:r>
                      <a:rPr lang="da-DK" sz="1000" i="0"/>
                      <m:t>·</m:t>
                    </m:r>
                    <m:r>
                      <m:rPr>
                        <m:sty m:val="p"/>
                      </m:rPr>
                      <a:rPr lang="da-DK" sz="1000" i="0"/>
                      <m:t>sikkerhedsmagn</m:t>
                    </m:r>
                    <m:r>
                      <a:rPr lang="da-DK" sz="1000" i="0"/>
                      <m:t>=0,14≤0,16·0,8=0,14≤0,1</m:t>
                    </m:r>
                    <m:r>
                      <a:rPr lang="da-DK" sz="1000" b="0" i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da-DK" sz="1000" i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da-DK" sz="1000" i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rPr>
                      <m:t>sek</m:t>
                    </m:r>
                    <m:r>
                      <a:rPr lang="da-DK" sz="1000" i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rPr>
                      <m:t>. </m:t>
                    </m:r>
                    <m:r>
                      <m:rPr>
                        <m:sty m:val="p"/>
                      </m:rPr>
                      <a:rPr lang="da-DK" sz="1000" i="0" smtClean="0">
                        <a:solidFill>
                          <a:schemeClr val="bg1"/>
                        </a:solidFill>
                        <a:highlight>
                          <a:srgbClr val="FF0000"/>
                        </a:highlight>
                      </a:rPr>
                      <m:t>IKKE</m:t>
                    </m:r>
                    <m:r>
                      <a:rPr lang="da-DK" sz="1000" i="0" smtClean="0">
                        <a:solidFill>
                          <a:schemeClr val="bg1"/>
                        </a:solidFill>
                        <a:highlight>
                          <a:srgbClr val="FF0000"/>
                        </a:highlight>
                      </a:rPr>
                      <m:t> </m:t>
                    </m:r>
                    <m:r>
                      <m:rPr>
                        <m:sty m:val="p"/>
                      </m:rPr>
                      <a:rPr lang="da-DK" sz="1000" i="0" smtClean="0">
                        <a:solidFill>
                          <a:schemeClr val="bg1"/>
                        </a:solidFill>
                        <a:highlight>
                          <a:srgbClr val="FF0000"/>
                        </a:highlight>
                      </a:rPr>
                      <m:t>OK</m:t>
                    </m:r>
                  </m:oMath>
                </a14:m>
                <a:r>
                  <a:rPr lang="da-DK" sz="1000" dirty="0">
                    <a:solidFill>
                      <a:schemeClr val="bg1"/>
                    </a:solidFill>
                  </a:rPr>
                  <a:t> </a:t>
                </a:r>
                <a:endParaRPr lang="da-DK" sz="1200" baseline="-25000" dirty="0"/>
              </a:p>
              <a:p>
                <a:pPr lvl="1">
                  <a:buFont typeface="Wingdings" pitchFamily="2" charset="2"/>
                  <a:buChar char="Ø"/>
                </a:pPr>
                <a:r>
                  <a:rPr lang="da-DK" sz="1200" dirty="0"/>
                  <a:t>Godkendes kontrollen ikke hæves sikringen, og en ny kontrol foretages</a:t>
                </a:r>
              </a:p>
              <a:p>
                <a:pPr lvl="1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sz="1000" i="0"/>
                      <m:t>La</m:t>
                    </m:r>
                    <m:sSub>
                      <m:sSubPr>
                        <m:ctrlPr>
                          <a:rPr lang="da-DK" sz="10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1000" i="0"/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sz="1000" i="0"/>
                          <m:t>sp</m:t>
                        </m:r>
                        <m:r>
                          <a:rPr lang="da-DK" sz="1000" i="0"/>
                          <m:t>æ</m:t>
                        </m:r>
                        <m:r>
                          <m:rPr>
                            <m:sty m:val="p"/>
                          </m:rPr>
                          <a:rPr lang="da-DK" sz="1000" i="0"/>
                          <m:t>ndingssikring</m:t>
                        </m:r>
                      </m:sub>
                    </m:sSub>
                    <m:r>
                      <a:rPr lang="da-DK" sz="1000" i="0"/>
                      <m:t>≤</m:t>
                    </m:r>
                    <m:r>
                      <m:rPr>
                        <m:sty m:val="p"/>
                      </m:rPr>
                      <a:rPr lang="da-DK" sz="1000" i="0"/>
                      <m:t>H</m:t>
                    </m:r>
                    <m:r>
                      <a:rPr lang="da-DK" sz="1000" i="0"/>
                      <m:t>ø</m:t>
                    </m:r>
                    <m:sSub>
                      <m:sSubPr>
                        <m:ctrlPr>
                          <a:rPr lang="da-DK" sz="10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1000" i="0"/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sz="1000" i="0"/>
                          <m:t>sp</m:t>
                        </m:r>
                        <m:r>
                          <a:rPr lang="da-DK" sz="1000" i="0"/>
                          <m:t>æ</m:t>
                        </m:r>
                        <m:r>
                          <m:rPr>
                            <m:sty m:val="p"/>
                          </m:rPr>
                          <a:rPr lang="da-DK" sz="1000" i="0"/>
                          <m:t>ndingssikring</m:t>
                        </m:r>
                      </m:sub>
                    </m:sSub>
                    <m:r>
                      <a:rPr lang="da-DK" sz="1000" i="0"/>
                      <m:t>·</m:t>
                    </m:r>
                    <m:r>
                      <m:rPr>
                        <m:sty m:val="p"/>
                      </m:rPr>
                      <a:rPr lang="da-DK" sz="1000" i="0"/>
                      <m:t>sikkerhedsmagn</m:t>
                    </m:r>
                    <m:r>
                      <a:rPr lang="da-DK" sz="1000" i="0"/>
                      <m:t>=0,14≤0,36·0,8=0,14≤0,29 </m:t>
                    </m:r>
                    <m:r>
                      <m:rPr>
                        <m:sty m:val="p"/>
                      </m:rPr>
                      <a:rPr lang="da-DK" sz="1000" i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rPr>
                      <m:t>sek</m:t>
                    </m:r>
                    <m:r>
                      <a:rPr lang="da-DK" sz="1000" i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rPr>
                      <m:t>. </m:t>
                    </m:r>
                    <m:r>
                      <m:rPr>
                        <m:sty m:val="p"/>
                      </m:rPr>
                      <a:rPr lang="da-DK" sz="1000" i="0" smtClean="0">
                        <a:solidFill>
                          <a:schemeClr val="bg1"/>
                        </a:solidFill>
                        <a:highlight>
                          <a:srgbClr val="00FF00"/>
                        </a:highlight>
                      </a:rPr>
                      <m:t>OK</m:t>
                    </m:r>
                  </m:oMath>
                </a14:m>
                <a:r>
                  <a:rPr lang="da-DK" sz="1000" dirty="0"/>
                  <a:t> </a:t>
                </a:r>
              </a:p>
              <a:p>
                <a:pPr marL="457200" lvl="1" indent="0">
                  <a:buNone/>
                </a:pPr>
                <a:endParaRPr lang="da-DK" sz="1200" dirty="0"/>
              </a:p>
              <a:p>
                <a:endParaRPr lang="da-DK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F18836AB-3D35-814B-A1B0-D46B0ACBE0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0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1">
            <a:extLst>
              <a:ext uri="{FF2B5EF4-FFF2-40B4-BE49-F238E27FC236}">
                <a16:creationId xmlns:a16="http://schemas.microsoft.com/office/drawing/2014/main" id="{6138A37C-C430-BD46-ABA1-BE19F21CD2D0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4) - Selektivitet</a:t>
            </a:r>
            <a:endParaRPr lang="da-DK" sz="2400" baseline="-25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ktangel 1">
                <a:extLst>
                  <a:ext uri="{FF2B5EF4-FFF2-40B4-BE49-F238E27FC236}">
                    <a16:creationId xmlns:a16="http://schemas.microsoft.com/office/drawing/2014/main" id="{7F84DD5A-3A54-1E48-BD84-0187C6C43669}"/>
                  </a:ext>
                </a:extLst>
              </p:cNvPr>
              <p:cNvSpPr/>
              <p:nvPr/>
            </p:nvSpPr>
            <p:spPr>
              <a:xfrm>
                <a:off x="1833036" y="5663111"/>
                <a:ext cx="8545184" cy="3824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Bef>
                    <a:spcPts val="1000"/>
                  </a:spcBef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sz="1000" i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Selektivitet</m:t>
                    </m:r>
                    <m:r>
                      <a:rPr lang="da-DK" sz="1000" i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da-DK" sz="10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a-DK" sz="1000" i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  <m:sup>
                        <m:r>
                          <a:rPr lang="da-DK" sz="1000" i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da-DK" sz="10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1000" i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sz="1000" i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MCCB</m:t>
                        </m:r>
                      </m:sub>
                    </m:sSub>
                    <m:r>
                      <a:rPr lang="da-DK" sz="1000" i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·</m:t>
                    </m:r>
                    <m:sSup>
                      <m:sSupPr>
                        <m:ctrlPr>
                          <a:rPr lang="da-DK" sz="10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a-DK" sz="10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a-DK" sz="10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a-DK" sz="1000" i="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a-DK" sz="1000" i="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da-DK" sz="1000" i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da-DK" sz="1000" i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≤</m:t>
                    </m:r>
                    <m:sSup>
                      <m:sSupPr>
                        <m:ctrlPr>
                          <a:rPr lang="da-DK" sz="10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a-DK" sz="1000" i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  <m:sup>
                        <m:r>
                          <a:rPr lang="da-DK" sz="1000" i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da-DK" sz="10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1000" i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sz="1000" i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a:rPr lang="da-DK" sz="1000" i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ø</m:t>
                        </m:r>
                        <m:sSub>
                          <m:sSubPr>
                            <m:ctrlPr>
                              <a:rPr lang="da-DK" sz="10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a-DK" sz="1000" i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j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a-DK" sz="1000" i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sp</m:t>
                            </m:r>
                            <m:r>
                              <a:rPr lang="da-DK" sz="1000" i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æ</m:t>
                            </m:r>
                            <m:r>
                              <m:rPr>
                                <m:sty m:val="p"/>
                              </m:rPr>
                              <a:rPr lang="da-DK" sz="1000" i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ndingssikring</m:t>
                            </m:r>
                          </m:sub>
                        </m:sSub>
                      </m:sub>
                    </m:sSub>
                    <m:r>
                      <a:rPr lang="da-DK" sz="1000" i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·</m:t>
                    </m:r>
                    <m:r>
                      <m:rPr>
                        <m:sty m:val="p"/>
                      </m:rPr>
                      <a:rPr lang="da-DK" sz="1000" i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sikkerhedsmagn</m:t>
                    </m:r>
                    <m:r>
                      <a:rPr lang="da-DK" sz="1000" i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↓</m:t>
                    </m:r>
                  </m:oMath>
                </a14:m>
                <a:r>
                  <a:rPr lang="da-DK" sz="10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sz="1000" i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Selektivitet</m:t>
                    </m:r>
                    <m:r>
                      <a:rPr lang="da-DK" sz="1000" i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=1,9·1</m:t>
                    </m:r>
                    <m:sSup>
                      <m:sSupPr>
                        <m:ctrlPr>
                          <a:rPr lang="da-DK" sz="10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a-DK" sz="1000" i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  <m:sup>
                        <m:r>
                          <a:rPr lang="da-DK" sz="1000" i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p>
                    </m:sSup>
                    <m:r>
                      <a:rPr lang="da-DK" sz="1000" i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·</m:t>
                    </m:r>
                    <m:sSup>
                      <m:sSupPr>
                        <m:ctrlPr>
                          <a:rPr lang="da-DK" sz="10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a-DK" sz="10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a-DK" sz="10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a-DK" sz="1000" i="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a-DK" sz="1000" i="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da-DK" sz="1000" i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da-DK" sz="1000" i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≤66</m:t>
                    </m:r>
                    <m:sSup>
                      <m:sSupPr>
                        <m:ctrlPr>
                          <a:rPr lang="da-DK" sz="10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da-DK" sz="1000" i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e>
                      <m:sup>
                        <m:r>
                          <a:rPr lang="da-DK" sz="1000" i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da-DK" sz="1000" i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·</m:t>
                    </m:r>
                    <m:r>
                      <a:rPr lang="da-DK" sz="10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0,062·0,8=</m:t>
                    </m:r>
                    <m:r>
                      <a:rPr lang="da-DK" sz="1000" i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3040≤22066,494 </m:t>
                    </m:r>
                    <m:sSup>
                      <m:sSupPr>
                        <m:ctrlPr>
                          <a:rPr lang="da-DK" sz="100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a-DK" sz="1000" i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  <m:sup>
                        <m:r>
                          <a:rPr lang="da-DK" sz="1000" i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da-DK" sz="1000" i="0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s</m:t>
                    </m:r>
                    <m:r>
                      <a:rPr lang="da-DK" sz="1000" i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a-DK" sz="1000" i="0">
                        <a:highlight>
                          <a:srgbClr val="00FF00"/>
                        </a:highlight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OK</m:t>
                    </m:r>
                  </m:oMath>
                </a14:m>
                <a:r>
                  <a:rPr lang="da-DK" sz="10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2" name="Rektangel 1">
                <a:extLst>
                  <a:ext uri="{FF2B5EF4-FFF2-40B4-BE49-F238E27FC236}">
                    <a16:creationId xmlns:a16="http://schemas.microsoft.com/office/drawing/2014/main" id="{7F84DD5A-3A54-1E48-BD84-0187C6C436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036" y="5663111"/>
                <a:ext cx="8545184" cy="3824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Lige forbindelse 64">
            <a:extLst>
              <a:ext uri="{FF2B5EF4-FFF2-40B4-BE49-F238E27FC236}">
                <a16:creationId xmlns:a16="http://schemas.microsoft.com/office/drawing/2014/main" id="{669E259E-0158-4A49-B6E1-B65F24EA3BEB}"/>
              </a:ext>
            </a:extLst>
          </p:cNvPr>
          <p:cNvCxnSpPr/>
          <p:nvPr/>
        </p:nvCxnSpPr>
        <p:spPr>
          <a:xfrm>
            <a:off x="6795715" y="2274590"/>
            <a:ext cx="0" cy="655042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Lige forbindelse 65">
            <a:extLst>
              <a:ext uri="{FF2B5EF4-FFF2-40B4-BE49-F238E27FC236}">
                <a16:creationId xmlns:a16="http://schemas.microsoft.com/office/drawing/2014/main" id="{B5BEC95A-FDF7-B24A-96BF-A01772F7CD25}"/>
              </a:ext>
            </a:extLst>
          </p:cNvPr>
          <p:cNvCxnSpPr>
            <a:cxnSpLocks/>
          </p:cNvCxnSpPr>
          <p:nvPr/>
        </p:nvCxnSpPr>
        <p:spPr>
          <a:xfrm flipH="1">
            <a:off x="6805343" y="2600257"/>
            <a:ext cx="2159876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Lige forbindelse 67">
            <a:extLst>
              <a:ext uri="{FF2B5EF4-FFF2-40B4-BE49-F238E27FC236}">
                <a16:creationId xmlns:a16="http://schemas.microsoft.com/office/drawing/2014/main" id="{53CD231C-DA2D-5446-85CE-DC6C12506808}"/>
              </a:ext>
            </a:extLst>
          </p:cNvPr>
          <p:cNvCxnSpPr>
            <a:cxnSpLocks/>
          </p:cNvCxnSpPr>
          <p:nvPr/>
        </p:nvCxnSpPr>
        <p:spPr>
          <a:xfrm>
            <a:off x="8959964" y="2052918"/>
            <a:ext cx="5255" cy="1125562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Lige forbindelse 69">
            <a:extLst>
              <a:ext uri="{FF2B5EF4-FFF2-40B4-BE49-F238E27FC236}">
                <a16:creationId xmlns:a16="http://schemas.microsoft.com/office/drawing/2014/main" id="{5B5550F3-D622-7849-ACC3-35AAA32030DA}"/>
              </a:ext>
            </a:extLst>
          </p:cNvPr>
          <p:cNvCxnSpPr>
            <a:cxnSpLocks/>
          </p:cNvCxnSpPr>
          <p:nvPr/>
        </p:nvCxnSpPr>
        <p:spPr>
          <a:xfrm flipH="1">
            <a:off x="8959964" y="2279692"/>
            <a:ext cx="431806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ktangel 70">
            <a:extLst>
              <a:ext uri="{FF2B5EF4-FFF2-40B4-BE49-F238E27FC236}">
                <a16:creationId xmlns:a16="http://schemas.microsoft.com/office/drawing/2014/main" id="{0F2E9DC9-3B5B-224D-9226-33C1F4E2B8A5}"/>
              </a:ext>
            </a:extLst>
          </p:cNvPr>
          <p:cNvSpPr/>
          <p:nvPr/>
        </p:nvSpPr>
        <p:spPr>
          <a:xfrm>
            <a:off x="6993283" y="2541142"/>
            <a:ext cx="364663" cy="11520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74" name="Lige forbindelse 73">
            <a:extLst>
              <a:ext uri="{FF2B5EF4-FFF2-40B4-BE49-F238E27FC236}">
                <a16:creationId xmlns:a16="http://schemas.microsoft.com/office/drawing/2014/main" id="{37C061F5-844F-4048-9497-2977AC2C99E6}"/>
              </a:ext>
            </a:extLst>
          </p:cNvPr>
          <p:cNvCxnSpPr>
            <a:cxnSpLocks/>
          </p:cNvCxnSpPr>
          <p:nvPr/>
        </p:nvCxnSpPr>
        <p:spPr>
          <a:xfrm flipH="1">
            <a:off x="9395720" y="2117088"/>
            <a:ext cx="384510" cy="157502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Lige forbindelse 75">
            <a:extLst>
              <a:ext uri="{FF2B5EF4-FFF2-40B4-BE49-F238E27FC236}">
                <a16:creationId xmlns:a16="http://schemas.microsoft.com/office/drawing/2014/main" id="{30204BFD-5181-2A47-86BB-876009DC7F2D}"/>
              </a:ext>
            </a:extLst>
          </p:cNvPr>
          <p:cNvCxnSpPr>
            <a:cxnSpLocks/>
          </p:cNvCxnSpPr>
          <p:nvPr/>
        </p:nvCxnSpPr>
        <p:spPr>
          <a:xfrm flipH="1">
            <a:off x="9780230" y="2274590"/>
            <a:ext cx="431806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Lige forbindelse 78">
            <a:extLst>
              <a:ext uri="{FF2B5EF4-FFF2-40B4-BE49-F238E27FC236}">
                <a16:creationId xmlns:a16="http://schemas.microsoft.com/office/drawing/2014/main" id="{63D9CCEF-ABF8-D747-BF0D-C30FAE105DB1}"/>
              </a:ext>
            </a:extLst>
          </p:cNvPr>
          <p:cNvCxnSpPr>
            <a:cxnSpLocks/>
          </p:cNvCxnSpPr>
          <p:nvPr/>
        </p:nvCxnSpPr>
        <p:spPr>
          <a:xfrm flipH="1" flipV="1">
            <a:off x="9746349" y="2247884"/>
            <a:ext cx="59891" cy="50885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Lige forbindelse 84">
            <a:extLst>
              <a:ext uri="{FF2B5EF4-FFF2-40B4-BE49-F238E27FC236}">
                <a16:creationId xmlns:a16="http://schemas.microsoft.com/office/drawing/2014/main" id="{21AF59F1-05B8-6D42-BD78-0EB7307A078A}"/>
              </a:ext>
            </a:extLst>
          </p:cNvPr>
          <p:cNvCxnSpPr>
            <a:cxnSpLocks/>
          </p:cNvCxnSpPr>
          <p:nvPr/>
        </p:nvCxnSpPr>
        <p:spPr>
          <a:xfrm flipV="1">
            <a:off x="9750900" y="2247884"/>
            <a:ext cx="55340" cy="48073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kstfelt 87">
            <a:extLst>
              <a:ext uri="{FF2B5EF4-FFF2-40B4-BE49-F238E27FC236}">
                <a16:creationId xmlns:a16="http://schemas.microsoft.com/office/drawing/2014/main" id="{363AFE49-B212-CF4E-9FEE-ACFA72B2FD50}"/>
              </a:ext>
            </a:extLst>
          </p:cNvPr>
          <p:cNvSpPr txBox="1"/>
          <p:nvPr/>
        </p:nvSpPr>
        <p:spPr>
          <a:xfrm>
            <a:off x="6604664" y="1837494"/>
            <a:ext cx="1582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/>
              <a:t>Højspændingssikring – </a:t>
            </a:r>
            <a:br>
              <a:rPr lang="da-DK" sz="800" dirty="0"/>
            </a:br>
            <a:r>
              <a:rPr lang="da-DK" sz="800" dirty="0"/>
              <a:t>Smeltesikring</a:t>
            </a:r>
          </a:p>
        </p:txBody>
      </p:sp>
      <p:sp>
        <p:nvSpPr>
          <p:cNvPr id="89" name="Tekstfelt 88">
            <a:extLst>
              <a:ext uri="{FF2B5EF4-FFF2-40B4-BE49-F238E27FC236}">
                <a16:creationId xmlns:a16="http://schemas.microsoft.com/office/drawing/2014/main" id="{1375D145-69A9-D742-8513-AA97E08B26A0}"/>
              </a:ext>
            </a:extLst>
          </p:cNvPr>
          <p:cNvSpPr txBox="1"/>
          <p:nvPr/>
        </p:nvSpPr>
        <p:spPr>
          <a:xfrm>
            <a:off x="9204978" y="1585676"/>
            <a:ext cx="1582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/>
              <a:t>Lavspændingssikring - MCCB</a:t>
            </a:r>
          </a:p>
        </p:txBody>
      </p:sp>
      <p:cxnSp>
        <p:nvCxnSpPr>
          <p:cNvPr id="91" name="Lige pilforbindelse 90">
            <a:extLst>
              <a:ext uri="{FF2B5EF4-FFF2-40B4-BE49-F238E27FC236}">
                <a16:creationId xmlns:a16="http://schemas.microsoft.com/office/drawing/2014/main" id="{22CD4F08-91FF-D44B-8239-124A1090DB40}"/>
              </a:ext>
            </a:extLst>
          </p:cNvPr>
          <p:cNvCxnSpPr/>
          <p:nvPr/>
        </p:nvCxnSpPr>
        <p:spPr>
          <a:xfrm>
            <a:off x="7175614" y="2176048"/>
            <a:ext cx="0" cy="298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Lige pilforbindelse 91">
            <a:extLst>
              <a:ext uri="{FF2B5EF4-FFF2-40B4-BE49-F238E27FC236}">
                <a16:creationId xmlns:a16="http://schemas.microsoft.com/office/drawing/2014/main" id="{83BD61B1-E369-B846-8D8C-9665E3E0E836}"/>
              </a:ext>
            </a:extLst>
          </p:cNvPr>
          <p:cNvCxnSpPr>
            <a:cxnSpLocks/>
          </p:cNvCxnSpPr>
          <p:nvPr/>
        </p:nvCxnSpPr>
        <p:spPr>
          <a:xfrm>
            <a:off x="9789108" y="1880397"/>
            <a:ext cx="0" cy="340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459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EC86ADA-00E1-3C4C-91A8-E71F1E6DB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Kapslingen af anlægget skal kendes ud fra producentens oplysninger, ellers kan denne ikke laves sikkerhedsmæssigt forsvarligt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ABFF85A2-DFEE-224A-B312-30F0647DA527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5) – Producent forbehold</a:t>
            </a:r>
            <a:endParaRPr lang="da-DK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336242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E20CB87-5FCF-1143-9E4F-82E23F4CB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IK</a:t>
            </a:r>
            <a:r>
              <a:rPr lang="da-DK" baseline="-25000" dirty="0"/>
              <a:t>min – F+N</a:t>
            </a:r>
          </a:p>
          <a:p>
            <a:pPr lvl="1">
              <a:buFont typeface="Wingdings" pitchFamily="2" charset="2"/>
              <a:buChar char="Ø"/>
            </a:pPr>
            <a:r>
              <a:rPr lang="da-DK" baseline="-25000" dirty="0"/>
              <a:t>Kontrol af højspændingssikring</a:t>
            </a:r>
          </a:p>
          <a:p>
            <a:pPr lvl="1">
              <a:buFont typeface="Wingdings" pitchFamily="2" charset="2"/>
              <a:buChar char="Ø"/>
            </a:pPr>
            <a:r>
              <a:rPr lang="da-DK" baseline="-25000" dirty="0"/>
              <a:t>Max tilladte tid – 2 sek.</a:t>
            </a:r>
          </a:p>
          <a:p>
            <a:pPr marL="457200" lvl="1" indent="0">
              <a:buNone/>
            </a:pPr>
            <a:endParaRPr lang="da-DK" baseline="-250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3EE0E937-1DD7-8A44-989F-7712C209B5B0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6) - Kortslutningsbeskyttelse</a:t>
            </a:r>
            <a:endParaRPr lang="da-DK" sz="2400" baseline="-25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ktangel 4">
                <a:extLst>
                  <a:ext uri="{FF2B5EF4-FFF2-40B4-BE49-F238E27FC236}">
                    <a16:creationId xmlns:a16="http://schemas.microsoft.com/office/drawing/2014/main" id="{DBFCD7A2-D38B-6A4E-BAE8-73BD016CFA39}"/>
                  </a:ext>
                </a:extLst>
              </p:cNvPr>
              <p:cNvSpPr/>
              <p:nvPr/>
            </p:nvSpPr>
            <p:spPr>
              <a:xfrm>
                <a:off x="5904949" y="2667450"/>
                <a:ext cx="5318454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a-DK" b="0" i="0" dirty="0" smtClean="0"/>
                        <m:t>Afl</m:t>
                      </m:r>
                      <m:r>
                        <m:rPr>
                          <m:nor/>
                        </m:rPr>
                        <a:rPr lang="da-DK" b="0" i="0" dirty="0" smtClean="0"/>
                        <m:t>æ</m:t>
                      </m:r>
                      <m:r>
                        <m:rPr>
                          <m:nor/>
                        </m:rPr>
                        <a:rPr lang="da-DK" b="0" i="0" dirty="0" smtClean="0"/>
                        <m:t>ste</m:t>
                      </m:r>
                      <m:r>
                        <m:rPr>
                          <m:nor/>
                        </m:rPr>
                        <a:rPr lang="da-DK" b="0" i="0" dirty="0" smtClean="0"/>
                        <m:t> </m:t>
                      </m:r>
                      <m:r>
                        <m:rPr>
                          <m:nor/>
                        </m:rPr>
                        <a:rPr lang="da-DK" b="0" i="0" dirty="0" smtClean="0"/>
                        <m:t>tid</m:t>
                      </m:r>
                      <m:r>
                        <a:rPr lang="da-DK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da-DK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Max</m:t>
                      </m:r>
                      <m:r>
                        <a:rPr lang="da-DK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tilladte</m:t>
                      </m:r>
                      <m:r>
                        <a:rPr lang="da-DK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a-DK" b="0" i="0" smtClean="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tid</m:t>
                      </m:r>
                    </m:oMath>
                    <m:oMath xmlns:m="http://schemas.openxmlformats.org/officeDocument/2006/math">
                      <m:r>
                        <a:rPr lang="da-DK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1,5 </m:t>
                      </m:r>
                      <m:r>
                        <a:rPr lang="da-DK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𝑠𝑒𝑘</m:t>
                      </m:r>
                      <m:r>
                        <a:rPr lang="da-DK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da-DK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da-DK" b="0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2 </m:t>
                      </m:r>
                      <m:r>
                        <m:rPr>
                          <m:sty m:val="p"/>
                        </m:rPr>
                        <a:rPr lang="da-DK" b="0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sek</m:t>
                      </m:r>
                      <m:r>
                        <a:rPr lang="da-DK" b="0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 </m:t>
                      </m:r>
                      <m:r>
                        <m:rPr>
                          <m:sty m:val="p"/>
                        </m:rPr>
                        <a:rPr lang="da-DK" b="0" i="0" smtClean="0">
                          <a:solidFill>
                            <a:schemeClr val="bg1"/>
                          </a:solidFill>
                          <a:highlight>
                            <a:srgbClr val="00FF00"/>
                          </a:highlight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OK</m:t>
                      </m:r>
                    </m:oMath>
                  </m:oMathPara>
                </a14:m>
                <a:endParaRPr lang="da-DK" dirty="0">
                  <a:highlight>
                    <a:srgbClr val="00FF00"/>
                  </a:highlight>
                </a:endParaRPr>
              </a:p>
            </p:txBody>
          </p:sp>
        </mc:Choice>
        <mc:Fallback>
          <p:sp>
            <p:nvSpPr>
              <p:cNvPr id="5" name="Rektangel 4">
                <a:extLst>
                  <a:ext uri="{FF2B5EF4-FFF2-40B4-BE49-F238E27FC236}">
                    <a16:creationId xmlns:a16="http://schemas.microsoft.com/office/drawing/2014/main" id="{DBFCD7A2-D38B-6A4E-BAE8-73BD016CFA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949" y="2667450"/>
                <a:ext cx="5318454" cy="646331"/>
              </a:xfrm>
              <a:prstGeom prst="rect">
                <a:avLst/>
              </a:prstGeom>
              <a:blipFill>
                <a:blip r:embed="rId2"/>
                <a:stretch>
                  <a:fillRect t="-1923" b="-769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1769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D578A4A-D540-6146-B93E-781B2CFCD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Trafoens brydetider</a:t>
            </a:r>
          </a:p>
          <a:p>
            <a:pPr lvl="1">
              <a:buFont typeface="Wingdings" pitchFamily="2" charset="2"/>
              <a:buChar char="Ø"/>
            </a:pPr>
            <a:r>
              <a:rPr lang="da-DK" baseline="-25000" dirty="0"/>
              <a:t>Mindste brydetid</a:t>
            </a:r>
          </a:p>
          <a:p>
            <a:pPr lvl="1">
              <a:buFont typeface="Wingdings" pitchFamily="2" charset="2"/>
              <a:buChar char="Ø"/>
            </a:pPr>
            <a:r>
              <a:rPr lang="da-DK" baseline="-25000" dirty="0"/>
              <a:t>Maksimale brydetid</a:t>
            </a:r>
          </a:p>
          <a:p>
            <a:pPr lvl="1">
              <a:buFont typeface="Wingdings" pitchFamily="2" charset="2"/>
              <a:buChar char="Ø"/>
            </a:pPr>
            <a:r>
              <a:rPr lang="da-DK" baseline="-25000" dirty="0"/>
              <a:t>Brydeusikkert område</a:t>
            </a:r>
          </a:p>
          <a:p>
            <a:pPr lvl="1">
              <a:buFont typeface="Wingdings" pitchFamily="2" charset="2"/>
              <a:buChar char="Ø"/>
            </a:pPr>
            <a:r>
              <a:rPr lang="da-DK" baseline="-25000" dirty="0"/>
              <a:t>Trafo fuldlaststrøm – ”50 A”</a:t>
            </a:r>
          </a:p>
          <a:p>
            <a:pPr lvl="1">
              <a:buFont typeface="Wingdings" pitchFamily="2" charset="2"/>
              <a:buChar char="Ø"/>
            </a:pPr>
            <a:r>
              <a:rPr lang="da-DK" baseline="-25000" dirty="0"/>
              <a:t>IKmin F+N – ”350 A”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9D209A80-A514-4143-B1DA-3CD9400CF569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7) - Brydetid</a:t>
            </a:r>
            <a:endParaRPr lang="da-DK" sz="2400" baseline="-25000" dirty="0"/>
          </a:p>
        </p:txBody>
      </p:sp>
      <p:cxnSp>
        <p:nvCxnSpPr>
          <p:cNvPr id="6" name="Lige forbindelse 5">
            <a:extLst>
              <a:ext uri="{FF2B5EF4-FFF2-40B4-BE49-F238E27FC236}">
                <a16:creationId xmlns:a16="http://schemas.microsoft.com/office/drawing/2014/main" id="{5FF127FD-2525-C442-B654-9A5A690C264A}"/>
              </a:ext>
            </a:extLst>
          </p:cNvPr>
          <p:cNvCxnSpPr>
            <a:cxnSpLocks/>
          </p:cNvCxnSpPr>
          <p:nvPr/>
        </p:nvCxnSpPr>
        <p:spPr>
          <a:xfrm>
            <a:off x="6209071" y="2389239"/>
            <a:ext cx="0" cy="3097161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Lige forbindelse 6">
            <a:extLst>
              <a:ext uri="{FF2B5EF4-FFF2-40B4-BE49-F238E27FC236}">
                <a16:creationId xmlns:a16="http://schemas.microsoft.com/office/drawing/2014/main" id="{F2D2043A-B10A-104B-8ADB-3D677EA99603}"/>
              </a:ext>
            </a:extLst>
          </p:cNvPr>
          <p:cNvCxnSpPr>
            <a:cxnSpLocks/>
          </p:cNvCxnSpPr>
          <p:nvPr/>
        </p:nvCxnSpPr>
        <p:spPr>
          <a:xfrm flipH="1">
            <a:off x="6209071" y="5486400"/>
            <a:ext cx="3716594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ue 8">
            <a:extLst>
              <a:ext uri="{FF2B5EF4-FFF2-40B4-BE49-F238E27FC236}">
                <a16:creationId xmlns:a16="http://schemas.microsoft.com/office/drawing/2014/main" id="{9F959519-D11D-374A-8F93-D344DC2A584C}"/>
              </a:ext>
            </a:extLst>
          </p:cNvPr>
          <p:cNvSpPr/>
          <p:nvPr/>
        </p:nvSpPr>
        <p:spPr>
          <a:xfrm rot="10800000">
            <a:off x="6523703" y="-235974"/>
            <a:ext cx="1666568" cy="5722374"/>
          </a:xfrm>
          <a:prstGeom prst="arc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Bue 9">
            <a:extLst>
              <a:ext uri="{FF2B5EF4-FFF2-40B4-BE49-F238E27FC236}">
                <a16:creationId xmlns:a16="http://schemas.microsoft.com/office/drawing/2014/main" id="{AA7E40D2-85A8-9748-9CD0-A438869F2AE8}"/>
              </a:ext>
            </a:extLst>
          </p:cNvPr>
          <p:cNvSpPr/>
          <p:nvPr/>
        </p:nvSpPr>
        <p:spPr>
          <a:xfrm rot="10800000">
            <a:off x="6838333" y="-235974"/>
            <a:ext cx="1666568" cy="5722374"/>
          </a:xfrm>
          <a:prstGeom prst="arc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" name="Bue 11">
            <a:extLst>
              <a:ext uri="{FF2B5EF4-FFF2-40B4-BE49-F238E27FC236}">
                <a16:creationId xmlns:a16="http://schemas.microsoft.com/office/drawing/2014/main" id="{760F3FC8-ED01-0B46-8B9C-E496172EA91C}"/>
              </a:ext>
            </a:extLst>
          </p:cNvPr>
          <p:cNvSpPr/>
          <p:nvPr/>
        </p:nvSpPr>
        <p:spPr>
          <a:xfrm rot="10800000">
            <a:off x="7152964" y="-235974"/>
            <a:ext cx="1666568" cy="5722374"/>
          </a:xfrm>
          <a:prstGeom prst="arc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Bue 12">
            <a:extLst>
              <a:ext uri="{FF2B5EF4-FFF2-40B4-BE49-F238E27FC236}">
                <a16:creationId xmlns:a16="http://schemas.microsoft.com/office/drawing/2014/main" id="{BDA1C218-89BA-F54A-8556-AEFC0AEB9B15}"/>
              </a:ext>
            </a:extLst>
          </p:cNvPr>
          <p:cNvSpPr/>
          <p:nvPr/>
        </p:nvSpPr>
        <p:spPr>
          <a:xfrm rot="10800000">
            <a:off x="7467595" y="-235974"/>
            <a:ext cx="1666568" cy="5722374"/>
          </a:xfrm>
          <a:prstGeom prst="arc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Bue 13">
            <a:extLst>
              <a:ext uri="{FF2B5EF4-FFF2-40B4-BE49-F238E27FC236}">
                <a16:creationId xmlns:a16="http://schemas.microsoft.com/office/drawing/2014/main" id="{48C44A3E-28E7-8948-B3D7-F7AEEF166C37}"/>
              </a:ext>
            </a:extLst>
          </p:cNvPr>
          <p:cNvSpPr/>
          <p:nvPr/>
        </p:nvSpPr>
        <p:spPr>
          <a:xfrm rot="10800000">
            <a:off x="7782226" y="-235974"/>
            <a:ext cx="1666568" cy="5722374"/>
          </a:xfrm>
          <a:prstGeom prst="arc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" name="Bue 14">
            <a:extLst>
              <a:ext uri="{FF2B5EF4-FFF2-40B4-BE49-F238E27FC236}">
                <a16:creationId xmlns:a16="http://schemas.microsoft.com/office/drawing/2014/main" id="{46C48C0D-5FC0-6245-B60A-2249748FDC26}"/>
              </a:ext>
            </a:extLst>
          </p:cNvPr>
          <p:cNvSpPr/>
          <p:nvPr/>
        </p:nvSpPr>
        <p:spPr>
          <a:xfrm rot="10800000">
            <a:off x="8096857" y="-235974"/>
            <a:ext cx="1666568" cy="5722374"/>
          </a:xfrm>
          <a:prstGeom prst="arc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" name="Bue 15">
            <a:extLst>
              <a:ext uri="{FF2B5EF4-FFF2-40B4-BE49-F238E27FC236}">
                <a16:creationId xmlns:a16="http://schemas.microsoft.com/office/drawing/2014/main" id="{B4254256-7063-F542-89DE-C4F95E5EC95D}"/>
              </a:ext>
            </a:extLst>
          </p:cNvPr>
          <p:cNvSpPr/>
          <p:nvPr/>
        </p:nvSpPr>
        <p:spPr>
          <a:xfrm rot="10800000">
            <a:off x="8495822" y="-235974"/>
            <a:ext cx="1666568" cy="5722374"/>
          </a:xfrm>
          <a:prstGeom prst="arc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" name="Bue 16">
            <a:extLst>
              <a:ext uri="{FF2B5EF4-FFF2-40B4-BE49-F238E27FC236}">
                <a16:creationId xmlns:a16="http://schemas.microsoft.com/office/drawing/2014/main" id="{B4F335E4-C4AB-6945-AE44-706DB3C763E8}"/>
              </a:ext>
            </a:extLst>
          </p:cNvPr>
          <p:cNvSpPr/>
          <p:nvPr/>
        </p:nvSpPr>
        <p:spPr>
          <a:xfrm rot="10800000">
            <a:off x="8814945" y="-235974"/>
            <a:ext cx="1666568" cy="5722374"/>
          </a:xfrm>
          <a:prstGeom prst="arc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0" name="Tekstfelt 19">
            <a:extLst>
              <a:ext uri="{FF2B5EF4-FFF2-40B4-BE49-F238E27FC236}">
                <a16:creationId xmlns:a16="http://schemas.microsoft.com/office/drawing/2014/main" id="{EC4504CD-803D-CA45-B295-0EA4A09C3A94}"/>
              </a:ext>
            </a:extLst>
          </p:cNvPr>
          <p:cNvSpPr txBox="1"/>
          <p:nvPr/>
        </p:nvSpPr>
        <p:spPr>
          <a:xfrm>
            <a:off x="9979751" y="5348542"/>
            <a:ext cx="23007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000" dirty="0"/>
              <a:t>Strøm</a:t>
            </a: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A76E0D6F-569E-4043-A4BB-5D2570FE263C}"/>
              </a:ext>
            </a:extLst>
          </p:cNvPr>
          <p:cNvSpPr txBox="1"/>
          <p:nvPr/>
        </p:nvSpPr>
        <p:spPr>
          <a:xfrm>
            <a:off x="5678715" y="2310806"/>
            <a:ext cx="23007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000" dirty="0"/>
              <a:t>energi</a:t>
            </a:r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5620A303-87F8-9342-A219-E69FE0749E6A}"/>
              </a:ext>
            </a:extLst>
          </p:cNvPr>
          <p:cNvSpPr txBox="1"/>
          <p:nvPr/>
        </p:nvSpPr>
        <p:spPr>
          <a:xfrm>
            <a:off x="6195074" y="1774949"/>
            <a:ext cx="23007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000" dirty="0"/>
              <a:t>Fuldlaststrøm</a:t>
            </a:r>
          </a:p>
        </p:txBody>
      </p:sp>
      <p:sp>
        <p:nvSpPr>
          <p:cNvPr id="23" name="Tekstfelt 22">
            <a:extLst>
              <a:ext uri="{FF2B5EF4-FFF2-40B4-BE49-F238E27FC236}">
                <a16:creationId xmlns:a16="http://schemas.microsoft.com/office/drawing/2014/main" id="{FE77C488-7C2A-6D40-80F7-E238F340EA79}"/>
              </a:ext>
            </a:extLst>
          </p:cNvPr>
          <p:cNvSpPr txBox="1"/>
          <p:nvPr/>
        </p:nvSpPr>
        <p:spPr>
          <a:xfrm>
            <a:off x="8455736" y="1743202"/>
            <a:ext cx="23007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000" dirty="0"/>
              <a:t>IK</a:t>
            </a:r>
            <a:r>
              <a:rPr lang="da-DK" sz="1000" baseline="-25000" dirty="0"/>
              <a:t>min F+N</a:t>
            </a:r>
          </a:p>
        </p:txBody>
      </p:sp>
      <p:sp>
        <p:nvSpPr>
          <p:cNvPr id="24" name="Tekstfelt 23">
            <a:extLst>
              <a:ext uri="{FF2B5EF4-FFF2-40B4-BE49-F238E27FC236}">
                <a16:creationId xmlns:a16="http://schemas.microsoft.com/office/drawing/2014/main" id="{1CE3D0AB-7F3C-8D48-9CE1-EA81EB58DB14}"/>
              </a:ext>
            </a:extLst>
          </p:cNvPr>
          <p:cNvSpPr txBox="1"/>
          <p:nvPr/>
        </p:nvSpPr>
        <p:spPr>
          <a:xfrm>
            <a:off x="7033111" y="1186868"/>
            <a:ext cx="23007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000" dirty="0"/>
              <a:t>Brydeusikkertområde</a:t>
            </a:r>
          </a:p>
        </p:txBody>
      </p:sp>
      <p:sp>
        <p:nvSpPr>
          <p:cNvPr id="25" name="Rektangel 24">
            <a:extLst>
              <a:ext uri="{FF2B5EF4-FFF2-40B4-BE49-F238E27FC236}">
                <a16:creationId xmlns:a16="http://schemas.microsoft.com/office/drawing/2014/main" id="{DFC9570F-919F-DF4A-A05C-BFB00AAD92EC}"/>
              </a:ext>
            </a:extLst>
          </p:cNvPr>
          <p:cNvSpPr/>
          <p:nvPr/>
        </p:nvSpPr>
        <p:spPr>
          <a:xfrm>
            <a:off x="7776074" y="2557027"/>
            <a:ext cx="110609" cy="29146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27" name="Lige forbindelse 26">
            <a:extLst>
              <a:ext uri="{FF2B5EF4-FFF2-40B4-BE49-F238E27FC236}">
                <a16:creationId xmlns:a16="http://schemas.microsoft.com/office/drawing/2014/main" id="{A7B6C20B-621E-2C4A-8F3A-E26D18D2B1E8}"/>
              </a:ext>
            </a:extLst>
          </p:cNvPr>
          <p:cNvCxnSpPr>
            <a:cxnSpLocks/>
          </p:cNvCxnSpPr>
          <p:nvPr/>
        </p:nvCxnSpPr>
        <p:spPr>
          <a:xfrm>
            <a:off x="8757377" y="2598285"/>
            <a:ext cx="57598" cy="288811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ige forbindelse 28">
            <a:extLst>
              <a:ext uri="{FF2B5EF4-FFF2-40B4-BE49-F238E27FC236}">
                <a16:creationId xmlns:a16="http://schemas.microsoft.com/office/drawing/2014/main" id="{FA9E4F90-B71E-6A45-A778-83B82D6A81EE}"/>
              </a:ext>
            </a:extLst>
          </p:cNvPr>
          <p:cNvCxnSpPr>
            <a:cxnSpLocks/>
          </p:cNvCxnSpPr>
          <p:nvPr/>
        </p:nvCxnSpPr>
        <p:spPr>
          <a:xfrm>
            <a:off x="6739428" y="2588775"/>
            <a:ext cx="57598" cy="288811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ige pilforbindelse 32">
            <a:extLst>
              <a:ext uri="{FF2B5EF4-FFF2-40B4-BE49-F238E27FC236}">
                <a16:creationId xmlns:a16="http://schemas.microsoft.com/office/drawing/2014/main" id="{766AD364-71D0-314E-85B0-B1E2076354C1}"/>
              </a:ext>
            </a:extLst>
          </p:cNvPr>
          <p:cNvCxnSpPr/>
          <p:nvPr/>
        </p:nvCxnSpPr>
        <p:spPr>
          <a:xfrm>
            <a:off x="7831378" y="1433089"/>
            <a:ext cx="0" cy="956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ige pilforbindelse 33">
            <a:extLst>
              <a:ext uri="{FF2B5EF4-FFF2-40B4-BE49-F238E27FC236}">
                <a16:creationId xmlns:a16="http://schemas.microsoft.com/office/drawing/2014/main" id="{E0473104-A63C-C441-8406-D38B914AFCC7}"/>
              </a:ext>
            </a:extLst>
          </p:cNvPr>
          <p:cNvCxnSpPr>
            <a:cxnSpLocks/>
          </p:cNvCxnSpPr>
          <p:nvPr/>
        </p:nvCxnSpPr>
        <p:spPr>
          <a:xfrm>
            <a:off x="8771010" y="1989423"/>
            <a:ext cx="0" cy="4780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Lige pilforbindelse 35">
            <a:extLst>
              <a:ext uri="{FF2B5EF4-FFF2-40B4-BE49-F238E27FC236}">
                <a16:creationId xmlns:a16="http://schemas.microsoft.com/office/drawing/2014/main" id="{11D59043-9339-654E-A9EB-AC9B30351BE6}"/>
              </a:ext>
            </a:extLst>
          </p:cNvPr>
          <p:cNvCxnSpPr>
            <a:cxnSpLocks/>
          </p:cNvCxnSpPr>
          <p:nvPr/>
        </p:nvCxnSpPr>
        <p:spPr>
          <a:xfrm>
            <a:off x="6739366" y="1989422"/>
            <a:ext cx="0" cy="4780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6301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{9037C379-281D-D546-9CDB-20D71457459D}tf10001062</Template>
  <TotalTime>303</TotalTime>
  <Words>271</Words>
  <Application>Microsoft Macintosh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8</vt:i4>
      </vt:variant>
    </vt:vector>
  </HeadingPairs>
  <TitlesOfParts>
    <vt:vector size="15" baseType="lpstr">
      <vt:lpstr>Arial</vt:lpstr>
      <vt:lpstr>Calibri</vt:lpstr>
      <vt:lpstr>Cambria Math</vt:lpstr>
      <vt:lpstr>Century Gothic</vt:lpstr>
      <vt:lpstr>Wingdings</vt:lpstr>
      <vt:lpstr>Wingdings 3</vt:lpstr>
      <vt:lpstr>Ion</vt:lpstr>
      <vt:lpstr>Transformerbeskyttelse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Dimensionering af trafo</dc:title>
  <dc:creator>Nicolai Alexander Skjershede</dc:creator>
  <cp:lastModifiedBy>Nicolai Alexander Skjershede</cp:lastModifiedBy>
  <cp:revision>32</cp:revision>
  <dcterms:created xsi:type="dcterms:W3CDTF">2021-04-04T16:29:49Z</dcterms:created>
  <dcterms:modified xsi:type="dcterms:W3CDTF">2021-04-05T15:36:44Z</dcterms:modified>
</cp:coreProperties>
</file>