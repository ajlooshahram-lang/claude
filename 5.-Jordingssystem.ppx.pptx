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927D"/>
    <a:srgbClr val="E0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1"/>
  </p:normalViewPr>
  <p:slideViewPr>
    <p:cSldViewPr snapToGrid="0" snapToObjects="1">
      <p:cViewPr varScale="1">
        <p:scale>
          <a:sx n="63" d="100"/>
          <a:sy n="63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F5953-2162-8C47-83A6-19977CBA448E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BE886-EB35-5B4D-A3C3-4607C4882C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23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183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369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489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566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7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547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815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089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64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347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30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857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066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3455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963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403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6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D20890F-54DF-3940-AF04-11D264C11A1F}" type="datetimeFigureOut">
              <a:rPr lang="da-DK" smtClean="0"/>
              <a:t>11-04-2023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9736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 sidevisning af en abstrakt hvid og grå Flet i sfære form-visning">
            <a:extLst>
              <a:ext uri="{FF2B5EF4-FFF2-40B4-BE49-F238E27FC236}">
                <a16:creationId xmlns:a16="http://schemas.microsoft.com/office/drawing/2014/main" id="{58AFE352-5582-1742-84C8-6AF17646F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1" t="25889"/>
          <a:stretch/>
        </p:blipFill>
        <p:spPr>
          <a:xfrm>
            <a:off x="20" y="302022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ABB5F1-03F8-4349-91DD-77EF2C4AE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932" y="3126983"/>
            <a:ext cx="9194533" cy="604034"/>
          </a:xfrm>
        </p:spPr>
        <p:txBody>
          <a:bodyPr>
            <a:noAutofit/>
          </a:bodyPr>
          <a:lstStyle/>
          <a:p>
            <a:r>
              <a:rPr lang="da-DK" sz="6000" dirty="0"/>
              <a:t>Jordingssystemer</a:t>
            </a:r>
          </a:p>
        </p:txBody>
      </p:sp>
    </p:spTree>
    <p:extLst>
      <p:ext uri="{BB962C8B-B14F-4D97-AF65-F5344CB8AC3E}">
        <p14:creationId xmlns:p14="http://schemas.microsoft.com/office/powerpoint/2010/main" val="136620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1345C-91B7-4F4F-AB72-19C914ED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Generel forståelse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Systemjord – (Driftjord)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Fællesjord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Beskyttelsesjord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Overgangsmodstand til neutral jord</a:t>
            </a:r>
          </a:p>
          <a:p>
            <a:pPr lvl="1"/>
            <a:endParaRPr lang="da-DK" sz="1200" baseline="-25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43E6AEB-0D73-D44E-BA8B-9685F7F8400A}"/>
              </a:ext>
            </a:extLst>
          </p:cNvPr>
          <p:cNvSpPr txBox="1">
            <a:spLocks/>
          </p:cNvSpPr>
          <p:nvPr/>
        </p:nvSpPr>
        <p:spPr>
          <a:xfrm>
            <a:off x="1103312" y="998912"/>
            <a:ext cx="5662613" cy="6040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500" dirty="0">
                <a:cs typeface="Calibri" panose="020F0502020204030204" pitchFamily="34" charset="0"/>
              </a:rPr>
              <a:t>Disposition</a:t>
            </a:r>
            <a:r>
              <a:rPr lang="da-DK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57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14810C-4BFC-1944-96D3-D7995FD9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Hvorfor jorder man</a:t>
            </a:r>
          </a:p>
          <a:p>
            <a:r>
              <a:rPr lang="da-DK" sz="1400" dirty="0"/>
              <a:t>Potentiale forskelle</a:t>
            </a:r>
          </a:p>
          <a:p>
            <a:pPr lvl="1">
              <a:buFont typeface="Wingdings" pitchFamily="2" charset="2"/>
              <a:buChar char="Ø"/>
            </a:pPr>
            <a:r>
              <a:rPr lang="da-DK" sz="1000" dirty="0"/>
              <a:t>Udligninger – udsatledene dele</a:t>
            </a:r>
          </a:p>
          <a:p>
            <a:pPr lvl="1">
              <a:buFont typeface="Wingdings" pitchFamily="2" charset="2"/>
              <a:buChar char="Ø"/>
            </a:pPr>
            <a:r>
              <a:rPr lang="da-DK" sz="1000" dirty="0"/>
              <a:t>Sikkerhed</a:t>
            </a:r>
          </a:p>
          <a:p>
            <a:pPr marL="457200" lvl="1" indent="0">
              <a:buNone/>
            </a:pPr>
            <a:endParaRPr lang="da-DK" sz="1200" dirty="0"/>
          </a:p>
          <a:p>
            <a:pPr marL="0" indent="0">
              <a:buNone/>
            </a:pPr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D768CFB-B7C8-D547-A1F8-1DC20D582DB5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Generel forståelse</a:t>
            </a:r>
          </a:p>
        </p:txBody>
      </p:sp>
    </p:spTree>
    <p:extLst>
      <p:ext uri="{BB962C8B-B14F-4D97-AF65-F5344CB8AC3E}">
        <p14:creationId xmlns:p14="http://schemas.microsoft.com/office/powerpoint/2010/main" val="375682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llipse 37">
            <a:extLst>
              <a:ext uri="{FF2B5EF4-FFF2-40B4-BE49-F238E27FC236}">
                <a16:creationId xmlns:a16="http://schemas.microsoft.com/office/drawing/2014/main" id="{B2ADCEF4-97B0-9843-98DC-6315808D5E81}"/>
              </a:ext>
            </a:extLst>
          </p:cNvPr>
          <p:cNvSpPr/>
          <p:nvPr/>
        </p:nvSpPr>
        <p:spPr>
          <a:xfrm>
            <a:off x="9473991" y="3103905"/>
            <a:ext cx="383908" cy="3908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09CB8DF-31F5-1047-BAB9-AF19B6327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buClr>
                    <a:srgbClr val="1E5155">
                      <a:lumMod val="40000"/>
                      <a:lumOff val="60000"/>
                    </a:srgbClr>
                  </a:buClr>
                </a:pPr>
                <a:r>
                  <a:rPr lang="da-DK" sz="1400" dirty="0">
                    <a:solidFill>
                      <a:prstClr val="white"/>
                    </a:solidFill>
                  </a:rPr>
                  <a:t>Trafoens forbindelse</a:t>
                </a:r>
              </a:p>
              <a:p>
                <a:pPr lvl="1">
                  <a:buClr>
                    <a:srgbClr val="1E5155">
                      <a:lumMod val="40000"/>
                      <a:lumOff val="60000"/>
                    </a:srgbClr>
                  </a:buClr>
                  <a:buFont typeface="Wingdings" pitchFamily="2" charset="2"/>
                  <a:buChar char="Ø"/>
                </a:pPr>
                <a:r>
                  <a:rPr lang="da-DK" sz="1200" dirty="0">
                    <a:solidFill>
                      <a:prstClr val="white"/>
                    </a:solidFill>
                  </a:rPr>
                  <a:t>Sekundær stjernepunkt – ud i lavvolt installationen</a:t>
                </a:r>
              </a:p>
              <a:p>
                <a:pPr lvl="0">
                  <a:buClr>
                    <a:srgbClr val="1E5155">
                      <a:lumMod val="40000"/>
                      <a:lumOff val="60000"/>
                    </a:srgbClr>
                  </a:buClr>
                </a:pPr>
                <a:r>
                  <a:rPr lang="da-DK" sz="1400" dirty="0">
                    <a:solidFill>
                      <a:prstClr val="white"/>
                    </a:solidFill>
                  </a:rPr>
                  <a:t>Kortslutningsberegning</a:t>
                </a:r>
              </a:p>
              <a:p>
                <a:pPr lvl="1">
                  <a:buClr>
                    <a:srgbClr val="1E5155">
                      <a:lumMod val="40000"/>
                      <a:lumOff val="60000"/>
                    </a:srgbClr>
                  </a:buClr>
                  <a:buFont typeface="Wingdings" pitchFamily="2" charset="2"/>
                  <a:buChar char="Ø"/>
                </a:pPr>
                <a:r>
                  <a:rPr lang="da-DK" sz="1200" dirty="0">
                    <a:solidFill>
                      <a:prstClr val="white"/>
                    </a:solidFill>
                  </a:rPr>
                  <a:t>IK</a:t>
                </a:r>
                <a:r>
                  <a:rPr lang="da-DK" sz="1200" baseline="-25000" dirty="0">
                    <a:solidFill>
                      <a:prstClr val="white"/>
                    </a:solidFill>
                  </a:rPr>
                  <a:t>2 faset – (Linjerelæ egne tider)</a:t>
                </a:r>
              </a:p>
              <a:p>
                <a:pPr lvl="1">
                  <a:buClr>
                    <a:srgbClr val="1E5155">
                      <a:lumMod val="40000"/>
                      <a:lumOff val="60000"/>
                    </a:srgbClr>
                  </a:buClr>
                  <a:buFont typeface="Wingdings" pitchFamily="2" charset="2"/>
                  <a:buChar char="Ø"/>
                </a:pPr>
                <a:r>
                  <a:rPr lang="da-DK" sz="1200" dirty="0">
                    <a:solidFill>
                      <a:prstClr val="white"/>
                    </a:solidFill>
                  </a:rPr>
                  <a:t>IK</a:t>
                </a:r>
                <a:r>
                  <a:rPr lang="da-DK" sz="1200" baseline="-25000" dirty="0">
                    <a:solidFill>
                      <a:prstClr val="white"/>
                    </a:solidFill>
                  </a:rPr>
                  <a:t>3 faset – (Værste tilfælde)</a:t>
                </a:r>
              </a:p>
              <a:p>
                <a:pPr lvl="0">
                  <a:buClr>
                    <a:srgbClr val="1E5155">
                      <a:lumMod val="40000"/>
                      <a:lumOff val="60000"/>
                    </a:srgbClr>
                  </a:buClr>
                </a:pPr>
                <a:r>
                  <a:rPr lang="da-DK" sz="1400" dirty="0">
                    <a:solidFill>
                      <a:prstClr val="white"/>
                    </a:solidFill>
                  </a:rPr>
                  <a:t>Systemjordingens tværsnit</a:t>
                </a:r>
              </a:p>
              <a:p>
                <a:pPr lvl="1">
                  <a:buClr>
                    <a:srgbClr val="1E5155">
                      <a:lumMod val="40000"/>
                      <a:lumOff val="60000"/>
                    </a:srgbClr>
                  </a:buClr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da-DK" sz="1000" b="0" i="1" smtClean="0">
                        <a:latin typeface="Cambria Math" panose="02040503050406030204" pitchFamily="18" charset="0"/>
                      </a:rPr>
                      <m:t>𝐽𝑜𝑟𝑑𝑖𝑛𝑔𝑠</m:t>
                    </m:r>
                    <m:r>
                      <a:rPr lang="da-DK" sz="1000" b="0" i="1" baseline="-25000" smtClean="0">
                        <a:latin typeface="Cambria Math" panose="02040503050406030204" pitchFamily="18" charset="0"/>
                      </a:rPr>
                      <m:t>𝑡𝑣</m:t>
                    </m:r>
                    <m:r>
                      <a:rPr lang="da-DK" sz="1000" b="0" i="1" baseline="-25000" smtClean="0">
                        <a:latin typeface="Cambria Math" panose="02040503050406030204" pitchFamily="18" charset="0"/>
                      </a:rPr>
                      <m:t>æ</m:t>
                    </m:r>
                    <m:r>
                      <a:rPr lang="da-DK" sz="1000" b="0" i="1" baseline="-25000" smtClean="0">
                        <a:latin typeface="Cambria Math" panose="02040503050406030204" pitchFamily="18" charset="0"/>
                      </a:rPr>
                      <m:t>𝑟𝑠𝑛𝑖𝑡</m:t>
                    </m:r>
                    <m:r>
                      <a:rPr lang="da-DK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000" i="1"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da-DK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𝑓𝑎𝑠𝑒𝑡</m:t>
                            </m:r>
                          </m:sub>
                        </m:sSub>
                      </m:num>
                      <m:den>
                        <m:r>
                          <a:rPr lang="da-DK" sz="1000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da-DK" sz="1000" i="1">
                        <a:latin typeface="Cambria Math" panose="02040503050406030204" pitchFamily="18" charset="0"/>
                      </a:rPr>
                      <m:t>·</m:t>
                    </m:r>
                    <m:rad>
                      <m:radPr>
                        <m:degHide m:val="on"/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a-DK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≫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a-DK" sz="10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𝑡𝑖𝑙𝑙𝑎𝑑𝑡𝑒</m:t>
                                </m:r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𝑡𝑖𝑑</m:t>
                                </m:r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= 2 </m:t>
                                </m:r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𝑠𝑒𝑘</m:t>
                                </m:r>
                              </m:e>
                            </m:func>
                          </m:num>
                          <m:den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𝑙𝑛</m:t>
                            </m:r>
                            <m:d>
                              <m:d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𝑆𝑙𝑢𝑡𝑡𝑒𝑚𝑝𝑒𝑟𝑎𝑡𝑢𝑟</m:t>
                                    </m:r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𝑒𝑡𝑎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𝑆𝑡𝑎𝑟𝑡𝑡𝑒𝑚𝑝𝑒𝑟𝑎𝑡𝑢𝑟</m:t>
                                    </m:r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𝑒𝑡𝑎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rad>
                  </m:oMath>
                </a14:m>
                <a:r>
                  <a:rPr lang="da-DK" sz="1000" dirty="0"/>
                  <a:t> 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da-DK" sz="1000" i="1">
                        <a:latin typeface="Cambria Math" panose="02040503050406030204" pitchFamily="18" charset="0"/>
                      </a:rPr>
                      <m:t>𝐽𝑜𝑟𝑑𝑖𝑛𝑔𝑠</m:t>
                    </m:r>
                    <m:r>
                      <a:rPr lang="da-DK" sz="1000" i="1" baseline="-25000">
                        <a:latin typeface="Cambria Math" panose="02040503050406030204" pitchFamily="18" charset="0"/>
                      </a:rPr>
                      <m:t>𝑡𝑣</m:t>
                    </m:r>
                    <m:r>
                      <a:rPr lang="da-DK" sz="1000" i="1" baseline="-25000">
                        <a:latin typeface="Cambria Math" panose="02040503050406030204" pitchFamily="18" charset="0"/>
                      </a:rPr>
                      <m:t>æ</m:t>
                    </m:r>
                    <m:r>
                      <a:rPr lang="da-DK" sz="1000" i="1" baseline="-25000">
                        <a:latin typeface="Cambria Math" panose="02040503050406030204" pitchFamily="18" charset="0"/>
                      </a:rPr>
                      <m:t>𝑟𝑠𝑛𝑖𝑡</m:t>
                    </m:r>
                    <m:r>
                      <a:rPr lang="da-DK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000" i="1"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da-DK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da-DK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𝑓𝑎𝑠𝑒𝑡</m:t>
                            </m:r>
                          </m:sub>
                        </m:sSub>
                      </m:num>
                      <m:den>
                        <m:r>
                          <a:rPr lang="da-DK" sz="1000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da-DK" sz="1000" i="1">
                        <a:latin typeface="Cambria Math" panose="02040503050406030204" pitchFamily="18" charset="0"/>
                      </a:rPr>
                      <m:t>·</m:t>
                    </m:r>
                    <m:rad>
                      <m:radPr>
                        <m:degHide m:val="on"/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a-DK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a-DK" sz="1000" i="1">
                                    <a:latin typeface="Cambria Math" panose="02040503050406030204" pitchFamily="18" charset="0"/>
                                  </a:rPr>
                                  <m:t>≫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da-DK" sz="1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fName>
                              <m:e>
                                <m:r>
                                  <a:rPr lang="da-DK" sz="1000" b="0" i="1" smtClean="0">
                                    <a:latin typeface="Cambria Math" panose="02040503050406030204" pitchFamily="18" charset="0"/>
                                  </a:rPr>
                                  <m:t>𝑏𝑟𝑦𝑑𝑒𝑡𝑖𝑑</m:t>
                                </m:r>
                              </m:e>
                            </m:func>
                          </m:num>
                          <m:den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𝑙𝑛</m:t>
                            </m:r>
                            <m:d>
                              <m:d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𝑆𝑙𝑢𝑡𝑡𝑒𝑚𝑝𝑒𝑟𝑎𝑡𝑢𝑟</m:t>
                                    </m:r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𝑒𝑡𝑎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𝑆𝑡𝑎𝑟𝑡𝑡𝑒𝑚𝑝𝑒𝑟𝑎𝑡𝑢𝑟</m:t>
                                    </m:r>
                                    <m: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  <m:t>𝑒𝑡𝑎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da-DK" sz="1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rad>
                  </m:oMath>
                </a14:m>
                <a:r>
                  <a:rPr lang="da-DK" sz="1000" dirty="0"/>
                  <a:t> </a:t>
                </a:r>
              </a:p>
              <a:p>
                <a:pPr marL="0" indent="0">
                  <a:buNone/>
                </a:pPr>
                <a:endParaRPr lang="da-DK" sz="14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09CB8DF-31F5-1047-BAB9-AF19B6327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96AD4C47-1256-C04B-B4D1-AE5F4E005FAF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Systemjord – (Driftjord)</a:t>
            </a:r>
            <a:endParaRPr lang="da-DK" sz="2400" baseline="-25000" dirty="0"/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F8313DF8-383D-0241-8D36-8281D14D5987}"/>
              </a:ext>
            </a:extLst>
          </p:cNvPr>
          <p:cNvCxnSpPr>
            <a:cxnSpLocks/>
          </p:cNvCxnSpPr>
          <p:nvPr/>
        </p:nvCxnSpPr>
        <p:spPr>
          <a:xfrm>
            <a:off x="8455533" y="4715681"/>
            <a:ext cx="11190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0429D296-07F0-4044-9DD4-973A168D2DAD}"/>
              </a:ext>
            </a:extLst>
          </p:cNvPr>
          <p:cNvCxnSpPr>
            <a:cxnSpLocks/>
          </p:cNvCxnSpPr>
          <p:nvPr/>
        </p:nvCxnSpPr>
        <p:spPr>
          <a:xfrm>
            <a:off x="8399578" y="4667597"/>
            <a:ext cx="21676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D06F64AB-C1CF-1448-B415-A896A2DF7F13}"/>
              </a:ext>
            </a:extLst>
          </p:cNvPr>
          <p:cNvCxnSpPr>
            <a:cxnSpLocks/>
          </p:cNvCxnSpPr>
          <p:nvPr/>
        </p:nvCxnSpPr>
        <p:spPr>
          <a:xfrm>
            <a:off x="8350680" y="4609734"/>
            <a:ext cx="31944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094F380E-241F-C64C-92C3-FF3BA57BDC05}"/>
              </a:ext>
            </a:extLst>
          </p:cNvPr>
          <p:cNvCxnSpPr>
            <a:cxnSpLocks/>
          </p:cNvCxnSpPr>
          <p:nvPr/>
        </p:nvCxnSpPr>
        <p:spPr>
          <a:xfrm>
            <a:off x="8296892" y="4556760"/>
            <a:ext cx="42213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2ED34842-DE9F-E547-A5DB-11869C447960}"/>
              </a:ext>
            </a:extLst>
          </p:cNvPr>
          <p:cNvCxnSpPr>
            <a:cxnSpLocks/>
          </p:cNvCxnSpPr>
          <p:nvPr/>
        </p:nvCxnSpPr>
        <p:spPr>
          <a:xfrm>
            <a:off x="8247993" y="4498897"/>
            <a:ext cx="52971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582D82D9-ED54-824E-9EB2-608B8ADD830F}"/>
              </a:ext>
            </a:extLst>
          </p:cNvPr>
          <p:cNvCxnSpPr>
            <a:cxnSpLocks/>
          </p:cNvCxnSpPr>
          <p:nvPr/>
        </p:nvCxnSpPr>
        <p:spPr>
          <a:xfrm>
            <a:off x="8199909" y="4441034"/>
            <a:ext cx="63647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ge forbindelse 27">
            <a:extLst>
              <a:ext uri="{FF2B5EF4-FFF2-40B4-BE49-F238E27FC236}">
                <a16:creationId xmlns:a16="http://schemas.microsoft.com/office/drawing/2014/main" id="{7369CDA7-92C1-6544-911C-FC4B5B32B552}"/>
              </a:ext>
            </a:extLst>
          </p:cNvPr>
          <p:cNvCxnSpPr>
            <a:cxnSpLocks/>
          </p:cNvCxnSpPr>
          <p:nvPr/>
        </p:nvCxnSpPr>
        <p:spPr>
          <a:xfrm>
            <a:off x="8141231" y="4388061"/>
            <a:ext cx="74894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ge forbindelse 31">
            <a:extLst>
              <a:ext uri="{FF2B5EF4-FFF2-40B4-BE49-F238E27FC236}">
                <a16:creationId xmlns:a16="http://schemas.microsoft.com/office/drawing/2014/main" id="{0B161CD0-4CD2-D64C-9872-FCAC83B1A550}"/>
              </a:ext>
            </a:extLst>
          </p:cNvPr>
          <p:cNvCxnSpPr>
            <a:cxnSpLocks/>
          </p:cNvCxnSpPr>
          <p:nvPr/>
        </p:nvCxnSpPr>
        <p:spPr>
          <a:xfrm>
            <a:off x="8537308" y="3878907"/>
            <a:ext cx="0" cy="50915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1DE3F2F7-9CCD-7C41-8576-AC878EBBFB12}"/>
              </a:ext>
            </a:extLst>
          </p:cNvPr>
          <p:cNvSpPr/>
          <p:nvPr/>
        </p:nvSpPr>
        <p:spPr>
          <a:xfrm>
            <a:off x="8515701" y="3823412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4" name="Lige forbindelse 33">
            <a:extLst>
              <a:ext uri="{FF2B5EF4-FFF2-40B4-BE49-F238E27FC236}">
                <a16:creationId xmlns:a16="http://schemas.microsoft.com/office/drawing/2014/main" id="{CD82765D-E62D-A446-8E7A-7E8F01D72F2B}"/>
              </a:ext>
            </a:extLst>
          </p:cNvPr>
          <p:cNvCxnSpPr>
            <a:cxnSpLocks/>
          </p:cNvCxnSpPr>
          <p:nvPr/>
        </p:nvCxnSpPr>
        <p:spPr>
          <a:xfrm flipH="1">
            <a:off x="8561420" y="3846271"/>
            <a:ext cx="1250760" cy="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5EF4F4BE-3446-E745-AAA0-FF226C09D122}"/>
              </a:ext>
            </a:extLst>
          </p:cNvPr>
          <p:cNvSpPr/>
          <p:nvPr/>
        </p:nvSpPr>
        <p:spPr>
          <a:xfrm>
            <a:off x="9812180" y="3823411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52F0BCD9-A9E1-B446-851F-7A16BF7202A0}"/>
              </a:ext>
            </a:extLst>
          </p:cNvPr>
          <p:cNvCxnSpPr>
            <a:cxnSpLocks/>
          </p:cNvCxnSpPr>
          <p:nvPr/>
        </p:nvCxnSpPr>
        <p:spPr>
          <a:xfrm>
            <a:off x="9835229" y="3314257"/>
            <a:ext cx="0" cy="50915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Ellipse 36">
            <a:extLst>
              <a:ext uri="{FF2B5EF4-FFF2-40B4-BE49-F238E27FC236}">
                <a16:creationId xmlns:a16="http://schemas.microsoft.com/office/drawing/2014/main" id="{9618545C-2095-B84C-AD70-C43152AC7C1E}"/>
              </a:ext>
            </a:extLst>
          </p:cNvPr>
          <p:cNvSpPr/>
          <p:nvPr/>
        </p:nvSpPr>
        <p:spPr>
          <a:xfrm>
            <a:off x="9665945" y="3102153"/>
            <a:ext cx="383908" cy="3908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9" name="Lige forbindelse 38">
            <a:extLst>
              <a:ext uri="{FF2B5EF4-FFF2-40B4-BE49-F238E27FC236}">
                <a16:creationId xmlns:a16="http://schemas.microsoft.com/office/drawing/2014/main" id="{14FA1F36-EA89-124A-80AD-E171AED150DD}"/>
              </a:ext>
            </a:extLst>
          </p:cNvPr>
          <p:cNvCxnSpPr>
            <a:cxnSpLocks/>
          </p:cNvCxnSpPr>
          <p:nvPr/>
        </p:nvCxnSpPr>
        <p:spPr>
          <a:xfrm flipH="1">
            <a:off x="8211003" y="3297597"/>
            <a:ext cx="125076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ktangel 39">
            <a:extLst>
              <a:ext uri="{FF2B5EF4-FFF2-40B4-BE49-F238E27FC236}">
                <a16:creationId xmlns:a16="http://schemas.microsoft.com/office/drawing/2014/main" id="{045AA542-BE1F-FF41-81CD-919D7B828574}"/>
              </a:ext>
            </a:extLst>
          </p:cNvPr>
          <p:cNvSpPr/>
          <p:nvPr/>
        </p:nvSpPr>
        <p:spPr>
          <a:xfrm>
            <a:off x="8408057" y="3249085"/>
            <a:ext cx="397869" cy="107053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1" name="Lige forbindelse 40">
            <a:extLst>
              <a:ext uri="{FF2B5EF4-FFF2-40B4-BE49-F238E27FC236}">
                <a16:creationId xmlns:a16="http://schemas.microsoft.com/office/drawing/2014/main" id="{E19B9612-3337-5949-9FD7-65092F9C49AA}"/>
              </a:ext>
            </a:extLst>
          </p:cNvPr>
          <p:cNvCxnSpPr>
            <a:cxnSpLocks/>
          </p:cNvCxnSpPr>
          <p:nvPr/>
        </p:nvCxnSpPr>
        <p:spPr>
          <a:xfrm>
            <a:off x="8136137" y="3043020"/>
            <a:ext cx="0" cy="50915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ige forbindelse 41">
            <a:extLst>
              <a:ext uri="{FF2B5EF4-FFF2-40B4-BE49-F238E27FC236}">
                <a16:creationId xmlns:a16="http://schemas.microsoft.com/office/drawing/2014/main" id="{ACF62092-39D9-B542-9823-197F87FB18B9}"/>
              </a:ext>
            </a:extLst>
          </p:cNvPr>
          <p:cNvCxnSpPr>
            <a:cxnSpLocks/>
          </p:cNvCxnSpPr>
          <p:nvPr/>
        </p:nvCxnSpPr>
        <p:spPr>
          <a:xfrm flipH="1">
            <a:off x="7452334" y="3297597"/>
            <a:ext cx="683803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ge forbindelse 43">
            <a:extLst>
              <a:ext uri="{FF2B5EF4-FFF2-40B4-BE49-F238E27FC236}">
                <a16:creationId xmlns:a16="http://schemas.microsoft.com/office/drawing/2014/main" id="{6FEA08B6-B419-F241-93B8-0F1CB04C717E}"/>
              </a:ext>
            </a:extLst>
          </p:cNvPr>
          <p:cNvCxnSpPr>
            <a:cxnSpLocks/>
          </p:cNvCxnSpPr>
          <p:nvPr/>
        </p:nvCxnSpPr>
        <p:spPr>
          <a:xfrm>
            <a:off x="7452334" y="2846984"/>
            <a:ext cx="0" cy="84385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Lige forbindelse 45">
            <a:extLst>
              <a:ext uri="{FF2B5EF4-FFF2-40B4-BE49-F238E27FC236}">
                <a16:creationId xmlns:a16="http://schemas.microsoft.com/office/drawing/2014/main" id="{CD86F01F-8F59-5E42-9F9E-CB783CA9A443}"/>
              </a:ext>
            </a:extLst>
          </p:cNvPr>
          <p:cNvCxnSpPr>
            <a:cxnSpLocks/>
          </p:cNvCxnSpPr>
          <p:nvPr/>
        </p:nvCxnSpPr>
        <p:spPr>
          <a:xfrm flipH="1">
            <a:off x="10049853" y="3297597"/>
            <a:ext cx="683803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DA7F0B28-6C5B-F843-A192-762EE7B3A851}"/>
              </a:ext>
            </a:extLst>
          </p:cNvPr>
          <p:cNvCxnSpPr>
            <a:cxnSpLocks/>
          </p:cNvCxnSpPr>
          <p:nvPr/>
        </p:nvCxnSpPr>
        <p:spPr>
          <a:xfrm>
            <a:off x="10733656" y="2846984"/>
            <a:ext cx="0" cy="84385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C8A72D3C-5B1C-394A-B8FD-CA1ADB7CD848}"/>
              </a:ext>
            </a:extLst>
          </p:cNvPr>
          <p:cNvCxnSpPr>
            <a:cxnSpLocks/>
          </p:cNvCxnSpPr>
          <p:nvPr/>
        </p:nvCxnSpPr>
        <p:spPr>
          <a:xfrm flipH="1">
            <a:off x="9675101" y="3297597"/>
            <a:ext cx="18279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9D0E19EE-70A5-D949-9CFF-F83D92F08215}"/>
              </a:ext>
            </a:extLst>
          </p:cNvPr>
          <p:cNvCxnSpPr>
            <a:cxnSpLocks/>
            <a:stCxn id="37" idx="5"/>
          </p:cNvCxnSpPr>
          <p:nvPr/>
        </p:nvCxnSpPr>
        <p:spPr>
          <a:xfrm flipH="1" flipV="1">
            <a:off x="9857899" y="3297597"/>
            <a:ext cx="135732" cy="1382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Lige forbindelse 51">
            <a:extLst>
              <a:ext uri="{FF2B5EF4-FFF2-40B4-BE49-F238E27FC236}">
                <a16:creationId xmlns:a16="http://schemas.microsoft.com/office/drawing/2014/main" id="{313C6E69-EB75-034D-9C6C-78CDFE9B00F5}"/>
              </a:ext>
            </a:extLst>
          </p:cNvPr>
          <p:cNvCxnSpPr>
            <a:cxnSpLocks/>
            <a:stCxn id="37" idx="7"/>
          </p:cNvCxnSpPr>
          <p:nvPr/>
        </p:nvCxnSpPr>
        <p:spPr>
          <a:xfrm flipH="1">
            <a:off x="9863737" y="3159397"/>
            <a:ext cx="129894" cy="13644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18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18836AB-3D35-814B-A1B0-D46B0ACBE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sz="1400" dirty="0"/>
                  <a:t>Jordforbindelse i transformer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000" dirty="0"/>
                  <a:t>Fællesjorden forbinder alle jordpotentialer i anlægget 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000" dirty="0"/>
                  <a:t>Typisk i kobberskinner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000" dirty="0"/>
                  <a:t>Forbinder primær og sekundær side til samme potentiale</a:t>
                </a:r>
              </a:p>
              <a:p>
                <a:r>
                  <a:rPr lang="da-DK" sz="1400" dirty="0"/>
                  <a:t>Kobberskinnens størrelse</a:t>
                </a:r>
                <a:endParaRPr lang="da-DK" sz="1400" baseline="-25000" dirty="0"/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000" i="0">
                        <a:latin typeface="Cambria Math" panose="02040503050406030204" pitchFamily="18" charset="0"/>
                      </a:rPr>
                      <m:t>Skinn</m:t>
                    </m:r>
                    <m:sSub>
                      <m:sSub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da-DK" sz="1000" i="0">
                            <a:latin typeface="Cambria Math" panose="02040503050406030204" pitchFamily="18" charset="0"/>
                          </a:rPr>
                          <m:t>ø</m:t>
                        </m:r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rrelse</m:t>
                        </m:r>
                      </m:sub>
                    </m:sSub>
                    <m:r>
                      <a:rPr lang="da-DK" sz="1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tykkelse</m:t>
                        </m:r>
                      </m:den>
                    </m:f>
                    <m:r>
                      <a:rPr lang="da-DK" sz="1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000" i="0">
                            <a:latin typeface="Cambria Math" panose="02040503050406030204" pitchFamily="18" charset="0"/>
                          </a:rPr>
                          <m:t>95</m:t>
                        </m:r>
                      </m:num>
                      <m:den>
                        <m:r>
                          <a:rPr lang="da-DK" sz="1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da-DK" sz="1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000" b="0" i="0" smtClean="0">
                        <a:latin typeface="Cambria Math" panose="02040503050406030204" pitchFamily="18" charset="0"/>
                      </a:rPr>
                      <m:t>23,75</m:t>
                    </m:r>
                    <m:r>
                      <m:rPr>
                        <m:sty m:val="p"/>
                      </m:rPr>
                      <a:rPr lang="da-DK" sz="1000" i="0">
                        <a:latin typeface="Cambria Math" panose="02040503050406030204" pitchFamily="18" charset="0"/>
                      </a:rPr>
                      <m:t>m</m:t>
                    </m:r>
                    <m:sSup>
                      <m:sSup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sz="1000" dirty="0"/>
                  <a:t> </a:t>
                </a:r>
                <a:br>
                  <a:rPr lang="da-DK" sz="1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b="0" i="0" smtClean="0">
                            <a:latin typeface="Cambria Math" panose="02040503050406030204" pitchFamily="18" charset="0"/>
                          </a:rPr>
                          <m:t>Tv</m:t>
                        </m:r>
                        <m:r>
                          <a:rPr lang="da-DK" sz="1000" b="0" i="0" smtClean="0">
                            <a:latin typeface="Cambria Math" panose="02040503050406030204" pitchFamily="18" charset="0"/>
                          </a:rPr>
                          <m:t>æ</m:t>
                        </m:r>
                        <m:r>
                          <m:rPr>
                            <m:sty m:val="p"/>
                          </m:rPr>
                          <a:rPr lang="da-DK" sz="1000" b="0" i="0" smtClean="0">
                            <a:latin typeface="Cambria Math" panose="02040503050406030204" pitchFamily="18" charset="0"/>
                          </a:rPr>
                          <m:t>rsnit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b="0" i="0" smtClean="0">
                            <a:latin typeface="Cambria Math" panose="02040503050406030204" pitchFamily="18" charset="0"/>
                          </a:rPr>
                          <m:t>skinne</m:t>
                        </m:r>
                      </m:sub>
                    </m:sSub>
                    <m:r>
                      <a:rPr lang="da-DK" sz="10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a-DK" sz="1000" b="0" i="0" smtClean="0">
                        <a:latin typeface="Cambria Math" panose="02040503050406030204" pitchFamily="18" charset="0"/>
                      </a:rPr>
                      <m:t>tykkelse</m:t>
                    </m:r>
                    <m:r>
                      <a:rPr lang="da-DK" sz="1000" i="0">
                        <a:latin typeface="Cambria Math" panose="02040503050406030204" pitchFamily="18" charset="0"/>
                      </a:rPr>
                      <m:t>·</m:t>
                    </m:r>
                    <m:r>
                      <m:rPr>
                        <m:sty m:val="p"/>
                      </m:rPr>
                      <a:rPr lang="da-DK" sz="1000">
                        <a:latin typeface="Cambria Math" panose="02040503050406030204" pitchFamily="18" charset="0"/>
                      </a:rPr>
                      <m:t>Skinn</m:t>
                    </m:r>
                    <m:sSub>
                      <m:sSub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da-DK" sz="1000">
                            <a:latin typeface="Cambria Math" panose="02040503050406030204" pitchFamily="18" charset="0"/>
                          </a:rPr>
                          <m:t>ø</m:t>
                        </m:r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rrelse</m:t>
                        </m:r>
                      </m:sub>
                    </m:sSub>
                    <m:r>
                      <a:rPr lang="da-DK" sz="1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000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da-DK" sz="1000" i="0">
                        <a:latin typeface="Cambria Math" panose="02040503050406030204" pitchFamily="18" charset="0"/>
                      </a:rPr>
                      <m:t>·</m:t>
                    </m:r>
                    <m:r>
                      <a:rPr lang="da-DK" sz="1000" b="0" i="0" smtClean="0">
                        <a:latin typeface="Cambria Math" panose="02040503050406030204" pitchFamily="18" charset="0"/>
                      </a:rPr>
                      <m:t>23,75</m:t>
                    </m:r>
                    <m:r>
                      <a:rPr lang="da-DK" sz="1000" i="0">
                        <a:latin typeface="Cambria Math" panose="02040503050406030204" pitchFamily="18" charset="0"/>
                      </a:rPr>
                      <m:t>=95</m:t>
                    </m:r>
                    <m:r>
                      <m:rPr>
                        <m:sty m:val="p"/>
                      </m:rPr>
                      <a:rPr lang="da-DK" sz="1000" i="0">
                        <a:latin typeface="Cambria Math" panose="02040503050406030204" pitchFamily="18" charset="0"/>
                      </a:rPr>
                      <m:t>m</m:t>
                    </m:r>
                    <m:sSup>
                      <m:sSup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sz="1000" dirty="0"/>
                  <a:t>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000" dirty="0"/>
                  <a:t>Størrelsen på skinnen og tværsnittet ender altså på samme størrelse</a:t>
                </a:r>
              </a:p>
              <a:p>
                <a:pPr lvl="1">
                  <a:buFont typeface="Wingdings" pitchFamily="2" charset="2"/>
                  <a:buChar char="Ø"/>
                </a:pPr>
                <a:endParaRPr lang="da-DK" sz="1200" baseline="-25000" dirty="0"/>
              </a:p>
              <a:p>
                <a:pPr marL="457200" lvl="1" indent="0">
                  <a:buNone/>
                </a:pPr>
                <a:endParaRPr lang="da-DK" sz="1200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18836AB-3D35-814B-A1B0-D46B0ACBE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6138A37C-C430-BD46-ABA1-BE19F21CD2D0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Fællesjord</a:t>
            </a:r>
            <a:endParaRPr lang="da-DK" sz="2400" baseline="-25000" dirty="0"/>
          </a:p>
        </p:txBody>
      </p: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9193A7FC-D370-6747-AD4E-105D78EDE222}"/>
              </a:ext>
            </a:extLst>
          </p:cNvPr>
          <p:cNvCxnSpPr>
            <a:cxnSpLocks/>
          </p:cNvCxnSpPr>
          <p:nvPr/>
        </p:nvCxnSpPr>
        <p:spPr>
          <a:xfrm>
            <a:off x="7870647" y="4666254"/>
            <a:ext cx="11190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5CB81802-1344-A34A-98D4-348DAF38E46C}"/>
              </a:ext>
            </a:extLst>
          </p:cNvPr>
          <p:cNvCxnSpPr>
            <a:cxnSpLocks/>
          </p:cNvCxnSpPr>
          <p:nvPr/>
        </p:nvCxnSpPr>
        <p:spPr>
          <a:xfrm>
            <a:off x="7814692" y="4618170"/>
            <a:ext cx="21676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25C8517B-675C-4444-A539-DCD05489274C}"/>
              </a:ext>
            </a:extLst>
          </p:cNvPr>
          <p:cNvCxnSpPr>
            <a:cxnSpLocks/>
          </p:cNvCxnSpPr>
          <p:nvPr/>
        </p:nvCxnSpPr>
        <p:spPr>
          <a:xfrm>
            <a:off x="7765794" y="4560307"/>
            <a:ext cx="31944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D219DBE0-0A6D-DD43-8BEC-E411F295B5F6}"/>
              </a:ext>
            </a:extLst>
          </p:cNvPr>
          <p:cNvCxnSpPr>
            <a:cxnSpLocks/>
          </p:cNvCxnSpPr>
          <p:nvPr/>
        </p:nvCxnSpPr>
        <p:spPr>
          <a:xfrm>
            <a:off x="7712006" y="4507333"/>
            <a:ext cx="42213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491B7DBB-D4F8-004E-9478-73A35786FC14}"/>
              </a:ext>
            </a:extLst>
          </p:cNvPr>
          <p:cNvCxnSpPr>
            <a:cxnSpLocks/>
          </p:cNvCxnSpPr>
          <p:nvPr/>
        </p:nvCxnSpPr>
        <p:spPr>
          <a:xfrm>
            <a:off x="7663107" y="4449470"/>
            <a:ext cx="52971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494603C3-322F-C047-8F6B-8D0C91EF0249}"/>
              </a:ext>
            </a:extLst>
          </p:cNvPr>
          <p:cNvCxnSpPr>
            <a:cxnSpLocks/>
          </p:cNvCxnSpPr>
          <p:nvPr/>
        </p:nvCxnSpPr>
        <p:spPr>
          <a:xfrm>
            <a:off x="7615023" y="4391607"/>
            <a:ext cx="63647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C2C03F14-03E7-1549-9B5C-04E3BA237B1D}"/>
              </a:ext>
            </a:extLst>
          </p:cNvPr>
          <p:cNvCxnSpPr>
            <a:cxnSpLocks/>
          </p:cNvCxnSpPr>
          <p:nvPr/>
        </p:nvCxnSpPr>
        <p:spPr>
          <a:xfrm>
            <a:off x="7556345" y="4338634"/>
            <a:ext cx="74894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72CB45F0-5882-DB4B-9875-3D897F33F64A}"/>
              </a:ext>
            </a:extLst>
          </p:cNvPr>
          <p:cNvCxnSpPr>
            <a:cxnSpLocks/>
          </p:cNvCxnSpPr>
          <p:nvPr/>
        </p:nvCxnSpPr>
        <p:spPr>
          <a:xfrm>
            <a:off x="7952422" y="3829480"/>
            <a:ext cx="0" cy="50915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383D9C35-2748-1746-96A8-1D95181852AC}"/>
              </a:ext>
            </a:extLst>
          </p:cNvPr>
          <p:cNvSpPr/>
          <p:nvPr/>
        </p:nvSpPr>
        <p:spPr>
          <a:xfrm>
            <a:off x="7930815" y="3773985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8" name="Lige forbindelse 27">
            <a:extLst>
              <a:ext uri="{FF2B5EF4-FFF2-40B4-BE49-F238E27FC236}">
                <a16:creationId xmlns:a16="http://schemas.microsoft.com/office/drawing/2014/main" id="{CB08D0A9-048C-8B4E-B73E-20517F892FE2}"/>
              </a:ext>
            </a:extLst>
          </p:cNvPr>
          <p:cNvCxnSpPr>
            <a:cxnSpLocks/>
          </p:cNvCxnSpPr>
          <p:nvPr/>
        </p:nvCxnSpPr>
        <p:spPr>
          <a:xfrm flipH="1">
            <a:off x="7976534" y="3773984"/>
            <a:ext cx="2825422" cy="2286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Lige forbindelse 29">
            <a:extLst>
              <a:ext uri="{FF2B5EF4-FFF2-40B4-BE49-F238E27FC236}">
                <a16:creationId xmlns:a16="http://schemas.microsoft.com/office/drawing/2014/main" id="{5A16C2F7-825D-BD49-8F7E-867994745F3F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9197331" y="3120870"/>
            <a:ext cx="3026" cy="649357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Lige forbindelse 41">
            <a:extLst>
              <a:ext uri="{FF2B5EF4-FFF2-40B4-BE49-F238E27FC236}">
                <a16:creationId xmlns:a16="http://schemas.microsoft.com/office/drawing/2014/main" id="{848276FF-9291-494C-86B6-9C348AFDF921}"/>
              </a:ext>
            </a:extLst>
          </p:cNvPr>
          <p:cNvCxnSpPr>
            <a:cxnSpLocks/>
          </p:cNvCxnSpPr>
          <p:nvPr/>
        </p:nvCxnSpPr>
        <p:spPr>
          <a:xfrm>
            <a:off x="10690047" y="4663483"/>
            <a:ext cx="11190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ge forbindelse 42">
            <a:extLst>
              <a:ext uri="{FF2B5EF4-FFF2-40B4-BE49-F238E27FC236}">
                <a16:creationId xmlns:a16="http://schemas.microsoft.com/office/drawing/2014/main" id="{9862919D-E207-3549-BA55-FF3F8C87466A}"/>
              </a:ext>
            </a:extLst>
          </p:cNvPr>
          <p:cNvCxnSpPr>
            <a:cxnSpLocks/>
          </p:cNvCxnSpPr>
          <p:nvPr/>
        </p:nvCxnSpPr>
        <p:spPr>
          <a:xfrm>
            <a:off x="10634092" y="4615399"/>
            <a:ext cx="21676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ge forbindelse 43">
            <a:extLst>
              <a:ext uri="{FF2B5EF4-FFF2-40B4-BE49-F238E27FC236}">
                <a16:creationId xmlns:a16="http://schemas.microsoft.com/office/drawing/2014/main" id="{DF6D492E-0172-8C48-80A6-DAE4AAC2D634}"/>
              </a:ext>
            </a:extLst>
          </p:cNvPr>
          <p:cNvCxnSpPr>
            <a:cxnSpLocks/>
          </p:cNvCxnSpPr>
          <p:nvPr/>
        </p:nvCxnSpPr>
        <p:spPr>
          <a:xfrm>
            <a:off x="10585194" y="4557536"/>
            <a:ext cx="31944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Lige forbindelse 44">
            <a:extLst>
              <a:ext uri="{FF2B5EF4-FFF2-40B4-BE49-F238E27FC236}">
                <a16:creationId xmlns:a16="http://schemas.microsoft.com/office/drawing/2014/main" id="{89385C84-AD61-F74E-BD9C-540E786C7355}"/>
              </a:ext>
            </a:extLst>
          </p:cNvPr>
          <p:cNvCxnSpPr>
            <a:cxnSpLocks/>
          </p:cNvCxnSpPr>
          <p:nvPr/>
        </p:nvCxnSpPr>
        <p:spPr>
          <a:xfrm>
            <a:off x="10531406" y="4504562"/>
            <a:ext cx="42213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Lige forbindelse 45">
            <a:extLst>
              <a:ext uri="{FF2B5EF4-FFF2-40B4-BE49-F238E27FC236}">
                <a16:creationId xmlns:a16="http://schemas.microsoft.com/office/drawing/2014/main" id="{2F9B63E4-953D-8046-8CCB-3F864C40A901}"/>
              </a:ext>
            </a:extLst>
          </p:cNvPr>
          <p:cNvCxnSpPr>
            <a:cxnSpLocks/>
          </p:cNvCxnSpPr>
          <p:nvPr/>
        </p:nvCxnSpPr>
        <p:spPr>
          <a:xfrm>
            <a:off x="10482507" y="4446699"/>
            <a:ext cx="52971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86FDB82B-C255-3347-ADA9-2701408E698A}"/>
              </a:ext>
            </a:extLst>
          </p:cNvPr>
          <p:cNvCxnSpPr>
            <a:cxnSpLocks/>
          </p:cNvCxnSpPr>
          <p:nvPr/>
        </p:nvCxnSpPr>
        <p:spPr>
          <a:xfrm>
            <a:off x="10434423" y="4388836"/>
            <a:ext cx="63647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85F6A982-3456-2248-9C3B-8B375A463DD9}"/>
              </a:ext>
            </a:extLst>
          </p:cNvPr>
          <p:cNvCxnSpPr>
            <a:cxnSpLocks/>
          </p:cNvCxnSpPr>
          <p:nvPr/>
        </p:nvCxnSpPr>
        <p:spPr>
          <a:xfrm>
            <a:off x="10375745" y="4335863"/>
            <a:ext cx="74894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ED2CE241-615C-8942-A78D-4CC4F7B941E9}"/>
              </a:ext>
            </a:extLst>
          </p:cNvPr>
          <p:cNvCxnSpPr>
            <a:cxnSpLocks/>
          </p:cNvCxnSpPr>
          <p:nvPr/>
        </p:nvCxnSpPr>
        <p:spPr>
          <a:xfrm>
            <a:off x="10786603" y="3826709"/>
            <a:ext cx="0" cy="50915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F8D1A05A-D2C0-ED4D-A305-63AD3E33E5CF}"/>
              </a:ext>
            </a:extLst>
          </p:cNvPr>
          <p:cNvSpPr/>
          <p:nvPr/>
        </p:nvSpPr>
        <p:spPr>
          <a:xfrm>
            <a:off x="10763743" y="3754503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C333F6F7-4911-6541-9E25-4390B17EB8D6}"/>
              </a:ext>
            </a:extLst>
          </p:cNvPr>
          <p:cNvSpPr/>
          <p:nvPr/>
        </p:nvSpPr>
        <p:spPr>
          <a:xfrm>
            <a:off x="9177497" y="3770227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241D129-E591-CF48-A8BE-C67E206EE7CE}"/>
              </a:ext>
            </a:extLst>
          </p:cNvPr>
          <p:cNvSpPr/>
          <p:nvPr/>
        </p:nvSpPr>
        <p:spPr>
          <a:xfrm>
            <a:off x="9502808" y="3762554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57" name="Lige forbindelse 56">
            <a:extLst>
              <a:ext uri="{FF2B5EF4-FFF2-40B4-BE49-F238E27FC236}">
                <a16:creationId xmlns:a16="http://schemas.microsoft.com/office/drawing/2014/main" id="{675ACA05-AD90-F141-9E51-42CE7A1F8EFA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9518755" y="3178114"/>
            <a:ext cx="6913" cy="58444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81517329-E0C7-564D-8DBE-D5EA5C52DF1D}"/>
              </a:ext>
            </a:extLst>
          </p:cNvPr>
          <p:cNvSpPr/>
          <p:nvPr/>
        </p:nvSpPr>
        <p:spPr>
          <a:xfrm>
            <a:off x="9005377" y="2787226"/>
            <a:ext cx="383908" cy="3908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BF54D7A2-2A2C-0843-89F2-AF81AC3DB708}"/>
              </a:ext>
            </a:extLst>
          </p:cNvPr>
          <p:cNvSpPr/>
          <p:nvPr/>
        </p:nvSpPr>
        <p:spPr>
          <a:xfrm>
            <a:off x="9310854" y="2791807"/>
            <a:ext cx="383908" cy="3908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1" name="Lige forbindelse 60">
            <a:extLst>
              <a:ext uri="{FF2B5EF4-FFF2-40B4-BE49-F238E27FC236}">
                <a16:creationId xmlns:a16="http://schemas.microsoft.com/office/drawing/2014/main" id="{9789A641-CC18-0340-B82A-5AFFDCD5588F}"/>
              </a:ext>
            </a:extLst>
          </p:cNvPr>
          <p:cNvCxnSpPr>
            <a:cxnSpLocks/>
          </p:cNvCxnSpPr>
          <p:nvPr/>
        </p:nvCxnSpPr>
        <p:spPr>
          <a:xfrm flipH="1">
            <a:off x="9320010" y="2987251"/>
            <a:ext cx="18279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Lige forbindelse 61">
            <a:extLst>
              <a:ext uri="{FF2B5EF4-FFF2-40B4-BE49-F238E27FC236}">
                <a16:creationId xmlns:a16="http://schemas.microsoft.com/office/drawing/2014/main" id="{4A6CDC5F-B52D-1344-8AE4-6E75125A9D06}"/>
              </a:ext>
            </a:extLst>
          </p:cNvPr>
          <p:cNvCxnSpPr>
            <a:cxnSpLocks/>
            <a:stCxn id="60" idx="5"/>
          </p:cNvCxnSpPr>
          <p:nvPr/>
        </p:nvCxnSpPr>
        <p:spPr>
          <a:xfrm flipH="1" flipV="1">
            <a:off x="9502808" y="2987251"/>
            <a:ext cx="135732" cy="1382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ge forbindelse 62">
            <a:extLst>
              <a:ext uri="{FF2B5EF4-FFF2-40B4-BE49-F238E27FC236}">
                <a16:creationId xmlns:a16="http://schemas.microsoft.com/office/drawing/2014/main" id="{906C9E30-E35A-5C43-9916-735372ACC157}"/>
              </a:ext>
            </a:extLst>
          </p:cNvPr>
          <p:cNvCxnSpPr>
            <a:cxnSpLocks/>
            <a:stCxn id="60" idx="7"/>
          </p:cNvCxnSpPr>
          <p:nvPr/>
        </p:nvCxnSpPr>
        <p:spPr>
          <a:xfrm flipH="1">
            <a:off x="9508646" y="2849051"/>
            <a:ext cx="129894" cy="13644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ige forbindelse 63">
            <a:extLst>
              <a:ext uri="{FF2B5EF4-FFF2-40B4-BE49-F238E27FC236}">
                <a16:creationId xmlns:a16="http://schemas.microsoft.com/office/drawing/2014/main" id="{C060E25A-972A-7541-956A-AD1BAE7B07B4}"/>
              </a:ext>
            </a:extLst>
          </p:cNvPr>
          <p:cNvCxnSpPr>
            <a:cxnSpLocks/>
            <a:stCxn id="58" idx="0"/>
            <a:endCxn id="58" idx="3"/>
          </p:cNvCxnSpPr>
          <p:nvPr/>
        </p:nvCxnSpPr>
        <p:spPr>
          <a:xfrm flipH="1">
            <a:off x="9061599" y="2787226"/>
            <a:ext cx="135732" cy="33364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ige forbindelse 66">
            <a:extLst>
              <a:ext uri="{FF2B5EF4-FFF2-40B4-BE49-F238E27FC236}">
                <a16:creationId xmlns:a16="http://schemas.microsoft.com/office/drawing/2014/main" id="{A5F649CA-A7F4-AC48-9372-A1529AD800C1}"/>
              </a:ext>
            </a:extLst>
          </p:cNvPr>
          <p:cNvCxnSpPr>
            <a:cxnSpLocks/>
            <a:stCxn id="58" idx="0"/>
            <a:endCxn id="58" idx="5"/>
          </p:cNvCxnSpPr>
          <p:nvPr/>
        </p:nvCxnSpPr>
        <p:spPr>
          <a:xfrm>
            <a:off x="9197331" y="2787226"/>
            <a:ext cx="135732" cy="33364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3B937DC6-ABF1-EA4D-A574-B50D39104CBA}"/>
              </a:ext>
            </a:extLst>
          </p:cNvPr>
          <p:cNvCxnSpPr>
            <a:cxnSpLocks/>
            <a:stCxn id="58" idx="5"/>
            <a:endCxn id="58" idx="3"/>
          </p:cNvCxnSpPr>
          <p:nvPr/>
        </p:nvCxnSpPr>
        <p:spPr>
          <a:xfrm flipH="1">
            <a:off x="9061599" y="3120870"/>
            <a:ext cx="271464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Afrundet rektangel 68">
            <a:extLst>
              <a:ext uri="{FF2B5EF4-FFF2-40B4-BE49-F238E27FC236}">
                <a16:creationId xmlns:a16="http://schemas.microsoft.com/office/drawing/2014/main" id="{7FF68EF7-A6D2-E742-9E07-1F06AB48901A}"/>
              </a:ext>
            </a:extLst>
          </p:cNvPr>
          <p:cNvSpPr/>
          <p:nvPr/>
        </p:nvSpPr>
        <p:spPr>
          <a:xfrm>
            <a:off x="8192819" y="2787226"/>
            <a:ext cx="112466" cy="814416"/>
          </a:xfrm>
          <a:prstGeom prst="roundRect">
            <a:avLst/>
          </a:prstGeom>
          <a:solidFill>
            <a:srgbClr val="BE927D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1" name="Afrundet rektangel 80">
            <a:extLst>
              <a:ext uri="{FF2B5EF4-FFF2-40B4-BE49-F238E27FC236}">
                <a16:creationId xmlns:a16="http://schemas.microsoft.com/office/drawing/2014/main" id="{43F6AC02-37EA-5C42-A457-0DE397C757AE}"/>
              </a:ext>
            </a:extLst>
          </p:cNvPr>
          <p:cNvSpPr/>
          <p:nvPr/>
        </p:nvSpPr>
        <p:spPr>
          <a:xfrm>
            <a:off x="8355017" y="2787226"/>
            <a:ext cx="112466" cy="814416"/>
          </a:xfrm>
          <a:prstGeom prst="roundRect">
            <a:avLst/>
          </a:prstGeom>
          <a:solidFill>
            <a:srgbClr val="BE927D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2" name="Afrundet rektangel 81">
            <a:extLst>
              <a:ext uri="{FF2B5EF4-FFF2-40B4-BE49-F238E27FC236}">
                <a16:creationId xmlns:a16="http://schemas.microsoft.com/office/drawing/2014/main" id="{C371E0AE-DCCC-0D49-AEBD-E43244C83931}"/>
              </a:ext>
            </a:extLst>
          </p:cNvPr>
          <p:cNvSpPr/>
          <p:nvPr/>
        </p:nvSpPr>
        <p:spPr>
          <a:xfrm>
            <a:off x="8521186" y="2787226"/>
            <a:ext cx="112466" cy="814416"/>
          </a:xfrm>
          <a:prstGeom prst="roundRect">
            <a:avLst/>
          </a:prstGeom>
          <a:solidFill>
            <a:srgbClr val="BE927D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5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EC86ADA-00E1-3C4C-91A8-E71F1E6DBC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sz="1400" dirty="0"/>
                  <a:t>Jordforbindelse</a:t>
                </a:r>
              </a:p>
              <a:p>
                <a:pPr lvl="1"/>
                <a:r>
                  <a:rPr lang="da-DK" sz="1200" dirty="0"/>
                  <a:t>Forbinder alle ledende dele i anlægget inkl. Kobber stellet</a:t>
                </a:r>
              </a:p>
              <a:p>
                <a:pPr lvl="1"/>
                <a:r>
                  <a:rPr lang="da-DK" sz="1200" dirty="0"/>
                  <a:t>Alle potentialer udlignes til fællesjord her</a:t>
                </a:r>
              </a:p>
              <a:p>
                <a:pPr lvl="1"/>
                <a:r>
                  <a:rPr lang="da-DK" sz="1200" dirty="0"/>
                  <a:t>Undgår berøringsfare</a:t>
                </a:r>
              </a:p>
              <a:p>
                <a:r>
                  <a:rPr lang="da-DK" sz="1400" dirty="0"/>
                  <a:t>Beskyttelsesjordens tværsnit</a:t>
                </a:r>
                <a:endParaRPr lang="da-DK" sz="1400" baseline="-25000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000" dirty="0"/>
                  <a:t>Kortslutningsberegning – IK</a:t>
                </a:r>
                <a:r>
                  <a:rPr lang="da-DK" sz="1000" baseline="-25000" dirty="0"/>
                  <a:t>2 faset til skærm 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Tv</m:t>
                        </m:r>
                        <m:r>
                          <a:rPr lang="da-DK" sz="1000">
                            <a:latin typeface="Cambria Math" panose="02040503050406030204" pitchFamily="18" charset="0"/>
                          </a:rPr>
                          <m:t>æ</m:t>
                        </m:r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rsnit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Beskyttelsesjord</m:t>
                        </m:r>
                      </m:sub>
                    </m:sSub>
                    <m:r>
                      <a:rPr lang="da-DK" sz="1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I</m:t>
                        </m:r>
                        <m:sSub>
                          <m:sSubPr>
                            <m:ctrlPr>
                              <a:rPr lang="da-DK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da-DK" sz="1000">
                                <a:latin typeface="Cambria Math" panose="02040503050406030204" pitchFamily="18" charset="0"/>
                              </a:rPr>
                              <m:t>2 </m:t>
                            </m:r>
                            <m:r>
                              <m:rPr>
                                <m:sty m:val="p"/>
                              </m:rPr>
                              <a:rPr lang="da-DK" sz="1000">
                                <a:latin typeface="Cambria Math" panose="02040503050406030204" pitchFamily="18" charset="0"/>
                              </a:rPr>
                              <m:t>fases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da-DK" sz="1000"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a:rPr lang="da-DK" sz="1000">
                        <a:latin typeface="Cambria Math" panose="02040503050406030204" pitchFamily="18" charset="0"/>
                      </a:rPr>
                      <m:t>·</m:t>
                    </m:r>
                    <m:rad>
                      <m:radPr>
                        <m:degHide m:val="on"/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a-DK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a-DK" sz="10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da-DK" sz="1000">
                                    <a:latin typeface="Cambria Math" panose="02040503050406030204" pitchFamily="18" charset="0"/>
                                  </a:rPr>
                                  <m:t>≫</m:t>
                                </m:r>
                              </m:sub>
                            </m:sSub>
                            <m:r>
                              <a:rPr lang="da-DK" sz="10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da-DK" sz="1000">
                                <a:latin typeface="Cambria Math" panose="02040503050406030204" pitchFamily="18" charset="0"/>
                              </a:rPr>
                              <m:t>brydetid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da-DK" sz="10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da-DK" sz="1000">
                                        <a:latin typeface="Cambria Math" panose="02040503050406030204" pitchFamily="18" charset="0"/>
                                      </a:rPr>
                                      <m:t>Sluttemperatur</m:t>
                                    </m:r>
                                    <m:r>
                                      <a:rPr lang="da-DK" sz="10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a-DK" sz="1000"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a-DK" sz="1000">
                                            <a:latin typeface="Cambria Math" panose="02040503050406030204" pitchFamily="18" charset="0"/>
                                          </a:rPr>
                                          <m:t>eta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da-DK" sz="1000">
                                        <a:latin typeface="Cambria Math" panose="02040503050406030204" pitchFamily="18" charset="0"/>
                                      </a:rPr>
                                      <m:t>Starttemperatur</m:t>
                                    </m:r>
                                    <m:r>
                                      <a:rPr lang="da-DK" sz="10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a-DK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a-DK" sz="1000"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a-DK" sz="1000">
                                            <a:latin typeface="Cambria Math" panose="02040503050406030204" pitchFamily="18" charset="0"/>
                                          </a:rPr>
                                          <m:t>eta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da-DK" sz="1000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rad>
                  </m:oMath>
                </a14:m>
                <a:endParaRPr lang="da-DK" sz="1000" dirty="0"/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Tv</m:t>
                        </m:r>
                        <m:r>
                          <a:rPr lang="da-DK" sz="1000" i="0">
                            <a:latin typeface="Cambria Math" panose="02040503050406030204" pitchFamily="18" charset="0"/>
                          </a:rPr>
                          <m:t>æ</m:t>
                        </m:r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rsnit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</a:rPr>
                          <m:t>Beskyttelsesjord</m:t>
                        </m:r>
                      </m:sub>
                    </m:sSub>
                    <m:r>
                      <a:rPr lang="da-DK" sz="1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000" b="0" i="0" smtClean="0">
                            <a:latin typeface="Cambria Math" panose="02040503050406030204" pitchFamily="18" charset="0"/>
                          </a:rPr>
                          <m:t>5000</m:t>
                        </m:r>
                      </m:num>
                      <m:den>
                        <m:r>
                          <a:rPr lang="da-DK" sz="1000" b="0" i="0" smtClean="0">
                            <a:latin typeface="Cambria Math" panose="02040503050406030204" pitchFamily="18" charset="0"/>
                          </a:rPr>
                          <m:t>226</m:t>
                        </m:r>
                      </m:den>
                    </m:f>
                    <m:r>
                      <a:rPr lang="da-DK" sz="1000" i="0">
                        <a:latin typeface="Cambria Math" panose="02040503050406030204" pitchFamily="18" charset="0"/>
                      </a:rPr>
                      <m:t>·</m:t>
                    </m:r>
                    <m:rad>
                      <m:radPr>
                        <m:degHide m:val="on"/>
                        <m:ctrlPr>
                          <a:rPr lang="da-DK" sz="1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a-DK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sz="1000" b="0" i="0" smtClean="0">
                                <a:latin typeface="Cambria Math" panose="02040503050406030204" pitchFamily="18" charset="0"/>
                              </a:rPr>
                              <m:t>0,07</m:t>
                            </m:r>
                            <m:r>
                              <a:rPr lang="da-DK" sz="10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a-DK" sz="1000" b="0" i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da-DK" sz="1000" i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ctrlPr>
                                  <a:rPr lang="da-DK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a-DK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a-DK" sz="1000" b="0" i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  <m:r>
                                      <a:rPr lang="da-DK" sz="10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da-DK" sz="1000" b="0" i="0" smtClean="0">
                                        <a:latin typeface="Cambria Math" panose="02040503050406030204" pitchFamily="18" charset="0"/>
                                      </a:rPr>
                                      <m:t>234,5</m:t>
                                    </m:r>
                                  </m:num>
                                  <m:den>
                                    <m:r>
                                      <a:rPr lang="da-DK" sz="1000" b="0" i="0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  <m:r>
                                      <a:rPr lang="da-DK" sz="10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da-DK" sz="1000" b="0" i="0" smtClean="0">
                                        <a:latin typeface="Cambria Math" panose="02040503050406030204" pitchFamily="18" charset="0"/>
                                      </a:rPr>
                                      <m:t>234,5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da-DK" sz="1000" i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rad>
                    <m:r>
                      <a:rPr lang="da-DK" sz="1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00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10,88</m:t>
                    </m:r>
                    <m:r>
                      <m:rPr>
                        <m:sty m:val="p"/>
                      </m:rPr>
                      <a:rPr lang="da-DK" sz="100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sSupPr>
                        <m:ctrlPr>
                          <a:rPr lang="da-DK" sz="1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100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da-DK" sz="100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00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→16</m:t>
                    </m:r>
                    <m:r>
                      <m:rPr>
                        <m:sty m:val="p"/>
                      </m:rPr>
                      <a:rPr lang="da-DK" sz="100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sSupPr>
                        <m:ctrlPr>
                          <a:rPr lang="da-DK" sz="1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100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da-DK" sz="100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a-DK" sz="1000" dirty="0"/>
              </a:p>
              <a:p>
                <a:pPr marL="457200" lvl="1" indent="0">
                  <a:buNone/>
                </a:pPr>
                <a:br>
                  <a:rPr lang="da-DK" sz="1000" dirty="0"/>
                </a:br>
                <a:endParaRPr lang="da-DK" sz="1000" dirty="0"/>
              </a:p>
              <a:p>
                <a:pPr marL="457200" lvl="1" indent="0">
                  <a:buNone/>
                </a:pPr>
                <a:endParaRPr lang="da-DK" sz="12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EC86ADA-00E1-3C4C-91A8-E71F1E6DB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ABFF85A2-DFEE-224A-B312-30F0647DA527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Beskyttelsesjord</a:t>
            </a:r>
            <a:endParaRPr lang="da-DK" sz="2400" baseline="-25000" dirty="0"/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26B6321C-6A46-FB41-8055-8A6BC154863C}"/>
              </a:ext>
            </a:extLst>
          </p:cNvPr>
          <p:cNvCxnSpPr>
            <a:cxnSpLocks/>
          </p:cNvCxnSpPr>
          <p:nvPr/>
        </p:nvCxnSpPr>
        <p:spPr>
          <a:xfrm>
            <a:off x="7420299" y="5052620"/>
            <a:ext cx="11190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1C49AF85-7BC0-854D-895A-B5CDEC337CBD}"/>
              </a:ext>
            </a:extLst>
          </p:cNvPr>
          <p:cNvCxnSpPr>
            <a:cxnSpLocks/>
          </p:cNvCxnSpPr>
          <p:nvPr/>
        </p:nvCxnSpPr>
        <p:spPr>
          <a:xfrm>
            <a:off x="7364344" y="5004536"/>
            <a:ext cx="21676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BD501C8E-2D49-AB4C-9052-229BE46DC396}"/>
              </a:ext>
            </a:extLst>
          </p:cNvPr>
          <p:cNvCxnSpPr>
            <a:cxnSpLocks/>
          </p:cNvCxnSpPr>
          <p:nvPr/>
        </p:nvCxnSpPr>
        <p:spPr>
          <a:xfrm>
            <a:off x="7315446" y="4946673"/>
            <a:ext cx="31944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F52A4D1A-F9D0-A548-AB11-69C79B3AE293}"/>
              </a:ext>
            </a:extLst>
          </p:cNvPr>
          <p:cNvCxnSpPr>
            <a:cxnSpLocks/>
          </p:cNvCxnSpPr>
          <p:nvPr/>
        </p:nvCxnSpPr>
        <p:spPr>
          <a:xfrm>
            <a:off x="7261658" y="4893699"/>
            <a:ext cx="42213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F96926A8-D780-1843-9CFD-CEFCFCCF2632}"/>
              </a:ext>
            </a:extLst>
          </p:cNvPr>
          <p:cNvCxnSpPr>
            <a:cxnSpLocks/>
          </p:cNvCxnSpPr>
          <p:nvPr/>
        </p:nvCxnSpPr>
        <p:spPr>
          <a:xfrm>
            <a:off x="7212759" y="4835836"/>
            <a:ext cx="52971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F88A8414-8AEC-0B4A-B847-2E550D713D80}"/>
              </a:ext>
            </a:extLst>
          </p:cNvPr>
          <p:cNvCxnSpPr>
            <a:cxnSpLocks/>
          </p:cNvCxnSpPr>
          <p:nvPr/>
        </p:nvCxnSpPr>
        <p:spPr>
          <a:xfrm>
            <a:off x="7164675" y="4777973"/>
            <a:ext cx="63647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1E26E0D6-1BF3-8A49-98A1-268E78E9A866}"/>
              </a:ext>
            </a:extLst>
          </p:cNvPr>
          <p:cNvCxnSpPr>
            <a:cxnSpLocks/>
          </p:cNvCxnSpPr>
          <p:nvPr/>
        </p:nvCxnSpPr>
        <p:spPr>
          <a:xfrm>
            <a:off x="7105997" y="4725000"/>
            <a:ext cx="74894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6F1CD021-0AA6-2548-BFB3-CAA0D0F4BE02}"/>
              </a:ext>
            </a:extLst>
          </p:cNvPr>
          <p:cNvCxnSpPr>
            <a:cxnSpLocks/>
          </p:cNvCxnSpPr>
          <p:nvPr/>
        </p:nvCxnSpPr>
        <p:spPr>
          <a:xfrm>
            <a:off x="7502074" y="4215846"/>
            <a:ext cx="0" cy="50915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Ellipse 12">
            <a:extLst>
              <a:ext uri="{FF2B5EF4-FFF2-40B4-BE49-F238E27FC236}">
                <a16:creationId xmlns:a16="http://schemas.microsoft.com/office/drawing/2014/main" id="{62D9F611-5BB5-FC44-8BD5-C66744E64439}"/>
              </a:ext>
            </a:extLst>
          </p:cNvPr>
          <p:cNvSpPr/>
          <p:nvPr/>
        </p:nvSpPr>
        <p:spPr>
          <a:xfrm>
            <a:off x="7480467" y="4160351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3C54DD3F-EF1E-C449-BF5F-F7F14A1ABE28}"/>
              </a:ext>
            </a:extLst>
          </p:cNvPr>
          <p:cNvCxnSpPr>
            <a:cxnSpLocks/>
          </p:cNvCxnSpPr>
          <p:nvPr/>
        </p:nvCxnSpPr>
        <p:spPr>
          <a:xfrm flipH="1">
            <a:off x="7526186" y="4160350"/>
            <a:ext cx="2825422" cy="2286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BA18D288-F8E1-FB4A-BFE6-F0661641F3CA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8746983" y="3507236"/>
            <a:ext cx="3026" cy="649357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A7112DB7-7AAD-B347-A7A0-CCF01B1D6A5F}"/>
              </a:ext>
            </a:extLst>
          </p:cNvPr>
          <p:cNvCxnSpPr>
            <a:cxnSpLocks/>
          </p:cNvCxnSpPr>
          <p:nvPr/>
        </p:nvCxnSpPr>
        <p:spPr>
          <a:xfrm>
            <a:off x="10239699" y="5049849"/>
            <a:ext cx="11190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AB6F611C-C160-9B40-829C-3D865C15A0A1}"/>
              </a:ext>
            </a:extLst>
          </p:cNvPr>
          <p:cNvCxnSpPr>
            <a:cxnSpLocks/>
          </p:cNvCxnSpPr>
          <p:nvPr/>
        </p:nvCxnSpPr>
        <p:spPr>
          <a:xfrm>
            <a:off x="10183744" y="5001765"/>
            <a:ext cx="21676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1656E044-9CCC-3C49-920C-CA9F804F69A8}"/>
              </a:ext>
            </a:extLst>
          </p:cNvPr>
          <p:cNvCxnSpPr>
            <a:cxnSpLocks/>
          </p:cNvCxnSpPr>
          <p:nvPr/>
        </p:nvCxnSpPr>
        <p:spPr>
          <a:xfrm>
            <a:off x="10134846" y="4943902"/>
            <a:ext cx="31944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B3ED83F5-2CD6-5A4F-9EF8-398E1DEDC0EE}"/>
              </a:ext>
            </a:extLst>
          </p:cNvPr>
          <p:cNvCxnSpPr>
            <a:cxnSpLocks/>
          </p:cNvCxnSpPr>
          <p:nvPr/>
        </p:nvCxnSpPr>
        <p:spPr>
          <a:xfrm>
            <a:off x="10081058" y="4890928"/>
            <a:ext cx="42213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93489997-988C-4242-8C1C-A59AFB5B386D}"/>
              </a:ext>
            </a:extLst>
          </p:cNvPr>
          <p:cNvCxnSpPr>
            <a:cxnSpLocks/>
          </p:cNvCxnSpPr>
          <p:nvPr/>
        </p:nvCxnSpPr>
        <p:spPr>
          <a:xfrm>
            <a:off x="10032159" y="4833065"/>
            <a:ext cx="52971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035B798C-4EA6-E046-8245-36F034C008BE}"/>
              </a:ext>
            </a:extLst>
          </p:cNvPr>
          <p:cNvCxnSpPr>
            <a:cxnSpLocks/>
          </p:cNvCxnSpPr>
          <p:nvPr/>
        </p:nvCxnSpPr>
        <p:spPr>
          <a:xfrm>
            <a:off x="9984075" y="4775202"/>
            <a:ext cx="63647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B20521A2-332A-8D42-AEBA-CCB7D9B59D85}"/>
              </a:ext>
            </a:extLst>
          </p:cNvPr>
          <p:cNvCxnSpPr>
            <a:cxnSpLocks/>
          </p:cNvCxnSpPr>
          <p:nvPr/>
        </p:nvCxnSpPr>
        <p:spPr>
          <a:xfrm>
            <a:off x="9925397" y="4722229"/>
            <a:ext cx="74894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B8193066-6DF6-AC40-9396-9E68724FA207}"/>
              </a:ext>
            </a:extLst>
          </p:cNvPr>
          <p:cNvCxnSpPr>
            <a:cxnSpLocks/>
          </p:cNvCxnSpPr>
          <p:nvPr/>
        </p:nvCxnSpPr>
        <p:spPr>
          <a:xfrm>
            <a:off x="10336255" y="4213075"/>
            <a:ext cx="0" cy="50915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Ellipse 23">
            <a:extLst>
              <a:ext uri="{FF2B5EF4-FFF2-40B4-BE49-F238E27FC236}">
                <a16:creationId xmlns:a16="http://schemas.microsoft.com/office/drawing/2014/main" id="{8CACC60B-41DC-D740-BDBA-5D05B8458FFF}"/>
              </a:ext>
            </a:extLst>
          </p:cNvPr>
          <p:cNvSpPr/>
          <p:nvPr/>
        </p:nvSpPr>
        <p:spPr>
          <a:xfrm>
            <a:off x="10313395" y="4140869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E06DCA6-DDAD-564A-88BD-CE09810A71BE}"/>
              </a:ext>
            </a:extLst>
          </p:cNvPr>
          <p:cNvSpPr/>
          <p:nvPr/>
        </p:nvSpPr>
        <p:spPr>
          <a:xfrm>
            <a:off x="8727149" y="4156593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FD1514B-E38E-004D-A8E3-D4AB3DFC2377}"/>
              </a:ext>
            </a:extLst>
          </p:cNvPr>
          <p:cNvSpPr/>
          <p:nvPr/>
        </p:nvSpPr>
        <p:spPr>
          <a:xfrm>
            <a:off x="9052460" y="4148920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D99CEFF3-6EC1-4D48-8519-6E976AFE91ED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068407" y="3564480"/>
            <a:ext cx="6913" cy="58444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F9084009-0074-6548-AF5C-4590FBEF5F6D}"/>
              </a:ext>
            </a:extLst>
          </p:cNvPr>
          <p:cNvSpPr/>
          <p:nvPr/>
        </p:nvSpPr>
        <p:spPr>
          <a:xfrm>
            <a:off x="8555029" y="3173592"/>
            <a:ext cx="383908" cy="3908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49EEA2CC-2065-BC42-83BA-8B7972DF3602}"/>
              </a:ext>
            </a:extLst>
          </p:cNvPr>
          <p:cNvSpPr/>
          <p:nvPr/>
        </p:nvSpPr>
        <p:spPr>
          <a:xfrm>
            <a:off x="8860506" y="3178173"/>
            <a:ext cx="383908" cy="3908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0" name="Lige forbindelse 29">
            <a:extLst>
              <a:ext uri="{FF2B5EF4-FFF2-40B4-BE49-F238E27FC236}">
                <a16:creationId xmlns:a16="http://schemas.microsoft.com/office/drawing/2014/main" id="{64EE1A19-8C6B-7F4B-9225-1AD9515907A9}"/>
              </a:ext>
            </a:extLst>
          </p:cNvPr>
          <p:cNvCxnSpPr>
            <a:cxnSpLocks/>
          </p:cNvCxnSpPr>
          <p:nvPr/>
        </p:nvCxnSpPr>
        <p:spPr>
          <a:xfrm flipH="1">
            <a:off x="8869662" y="3373617"/>
            <a:ext cx="18279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ge forbindelse 30">
            <a:extLst>
              <a:ext uri="{FF2B5EF4-FFF2-40B4-BE49-F238E27FC236}">
                <a16:creationId xmlns:a16="http://schemas.microsoft.com/office/drawing/2014/main" id="{F0C0564C-FEAB-3041-B3BD-40FBE1047C9F}"/>
              </a:ext>
            </a:extLst>
          </p:cNvPr>
          <p:cNvCxnSpPr>
            <a:cxnSpLocks/>
            <a:stCxn id="29" idx="5"/>
          </p:cNvCxnSpPr>
          <p:nvPr/>
        </p:nvCxnSpPr>
        <p:spPr>
          <a:xfrm flipH="1" flipV="1">
            <a:off x="9052460" y="3373617"/>
            <a:ext cx="135732" cy="1382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ge forbindelse 31">
            <a:extLst>
              <a:ext uri="{FF2B5EF4-FFF2-40B4-BE49-F238E27FC236}">
                <a16:creationId xmlns:a16="http://schemas.microsoft.com/office/drawing/2014/main" id="{FDE89BC9-AB6B-4942-AA5C-BB32B0477EEB}"/>
              </a:ext>
            </a:extLst>
          </p:cNvPr>
          <p:cNvCxnSpPr>
            <a:cxnSpLocks/>
            <a:stCxn id="29" idx="7"/>
          </p:cNvCxnSpPr>
          <p:nvPr/>
        </p:nvCxnSpPr>
        <p:spPr>
          <a:xfrm flipH="1">
            <a:off x="9058298" y="3235417"/>
            <a:ext cx="129894" cy="13644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DD314438-5188-6046-A881-C83D1255DA34}"/>
              </a:ext>
            </a:extLst>
          </p:cNvPr>
          <p:cNvCxnSpPr>
            <a:cxnSpLocks/>
            <a:stCxn id="28" idx="0"/>
            <a:endCxn id="28" idx="3"/>
          </p:cNvCxnSpPr>
          <p:nvPr/>
        </p:nvCxnSpPr>
        <p:spPr>
          <a:xfrm flipH="1">
            <a:off x="8611251" y="3173592"/>
            <a:ext cx="135732" cy="33364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ge forbindelse 33">
            <a:extLst>
              <a:ext uri="{FF2B5EF4-FFF2-40B4-BE49-F238E27FC236}">
                <a16:creationId xmlns:a16="http://schemas.microsoft.com/office/drawing/2014/main" id="{34923C5A-9457-5342-B520-D915F65D7CB8}"/>
              </a:ext>
            </a:extLst>
          </p:cNvPr>
          <p:cNvCxnSpPr>
            <a:cxnSpLocks/>
            <a:stCxn id="28" idx="0"/>
            <a:endCxn id="28" idx="5"/>
          </p:cNvCxnSpPr>
          <p:nvPr/>
        </p:nvCxnSpPr>
        <p:spPr>
          <a:xfrm>
            <a:off x="8746983" y="3173592"/>
            <a:ext cx="135732" cy="33364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ge forbindelse 34">
            <a:extLst>
              <a:ext uri="{FF2B5EF4-FFF2-40B4-BE49-F238E27FC236}">
                <a16:creationId xmlns:a16="http://schemas.microsoft.com/office/drawing/2014/main" id="{97683417-9493-7B40-B278-ED996CF4EB57}"/>
              </a:ext>
            </a:extLst>
          </p:cNvPr>
          <p:cNvCxnSpPr>
            <a:cxnSpLocks/>
            <a:stCxn id="28" idx="5"/>
            <a:endCxn id="28" idx="3"/>
          </p:cNvCxnSpPr>
          <p:nvPr/>
        </p:nvCxnSpPr>
        <p:spPr>
          <a:xfrm flipH="1">
            <a:off x="8611251" y="3507236"/>
            <a:ext cx="271464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frundet rektangel 35">
            <a:extLst>
              <a:ext uri="{FF2B5EF4-FFF2-40B4-BE49-F238E27FC236}">
                <a16:creationId xmlns:a16="http://schemas.microsoft.com/office/drawing/2014/main" id="{5AC87859-6D9E-014B-A992-E7F4528D6E99}"/>
              </a:ext>
            </a:extLst>
          </p:cNvPr>
          <p:cNvSpPr/>
          <p:nvPr/>
        </p:nvSpPr>
        <p:spPr>
          <a:xfrm>
            <a:off x="8683807" y="1905851"/>
            <a:ext cx="112466" cy="814416"/>
          </a:xfrm>
          <a:prstGeom prst="roundRect">
            <a:avLst/>
          </a:prstGeom>
          <a:solidFill>
            <a:srgbClr val="BE927D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86AA1D42-2262-2E46-8E95-0334DEEC2650}"/>
              </a:ext>
            </a:extLst>
          </p:cNvPr>
          <p:cNvSpPr/>
          <p:nvPr/>
        </p:nvSpPr>
        <p:spPr>
          <a:xfrm>
            <a:off x="8717180" y="1963099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47E64CEF-1B27-DC47-A160-CC5BE64E5C48}"/>
              </a:ext>
            </a:extLst>
          </p:cNvPr>
          <p:cNvSpPr/>
          <p:nvPr/>
        </p:nvSpPr>
        <p:spPr>
          <a:xfrm>
            <a:off x="8714751" y="2622064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08D780A-71E7-0B49-9B72-687011BFB3A7}"/>
              </a:ext>
            </a:extLst>
          </p:cNvPr>
          <p:cNvSpPr/>
          <p:nvPr/>
        </p:nvSpPr>
        <p:spPr>
          <a:xfrm>
            <a:off x="8714751" y="2403116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89FBB850-3AC5-A045-B913-71F38F8C68EE}"/>
              </a:ext>
            </a:extLst>
          </p:cNvPr>
          <p:cNvSpPr/>
          <p:nvPr/>
        </p:nvSpPr>
        <p:spPr>
          <a:xfrm>
            <a:off x="8714751" y="2182047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" name="Afrundet rektangel 42">
            <a:extLst>
              <a:ext uri="{FF2B5EF4-FFF2-40B4-BE49-F238E27FC236}">
                <a16:creationId xmlns:a16="http://schemas.microsoft.com/office/drawing/2014/main" id="{CE5EE606-8E31-E242-8BC4-946AA8C3F073}"/>
              </a:ext>
            </a:extLst>
          </p:cNvPr>
          <p:cNvSpPr/>
          <p:nvPr/>
        </p:nvSpPr>
        <p:spPr>
          <a:xfrm>
            <a:off x="8831692" y="1905851"/>
            <a:ext cx="112466" cy="814416"/>
          </a:xfrm>
          <a:prstGeom prst="roundRect">
            <a:avLst/>
          </a:prstGeom>
          <a:solidFill>
            <a:srgbClr val="BE927D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B8B9D1B-542D-5A49-A392-CFAC1265895D}"/>
              </a:ext>
            </a:extLst>
          </p:cNvPr>
          <p:cNvSpPr/>
          <p:nvPr/>
        </p:nvSpPr>
        <p:spPr>
          <a:xfrm>
            <a:off x="8865065" y="1963099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633BED6-A98E-1C48-A525-CA264AF8199B}"/>
              </a:ext>
            </a:extLst>
          </p:cNvPr>
          <p:cNvSpPr/>
          <p:nvPr/>
        </p:nvSpPr>
        <p:spPr>
          <a:xfrm>
            <a:off x="8862636" y="2622064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654CDE30-9557-2947-B5BB-25FE9C13A5EF}"/>
              </a:ext>
            </a:extLst>
          </p:cNvPr>
          <p:cNvSpPr/>
          <p:nvPr/>
        </p:nvSpPr>
        <p:spPr>
          <a:xfrm>
            <a:off x="8862636" y="2403116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D2052C82-5996-8D4A-BF99-504F71B3E424}"/>
              </a:ext>
            </a:extLst>
          </p:cNvPr>
          <p:cNvSpPr/>
          <p:nvPr/>
        </p:nvSpPr>
        <p:spPr>
          <a:xfrm>
            <a:off x="8862636" y="2182047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8" name="Afrundet rektangel 47">
            <a:extLst>
              <a:ext uri="{FF2B5EF4-FFF2-40B4-BE49-F238E27FC236}">
                <a16:creationId xmlns:a16="http://schemas.microsoft.com/office/drawing/2014/main" id="{167B2A23-FD04-E441-926B-FFA54CF25E22}"/>
              </a:ext>
            </a:extLst>
          </p:cNvPr>
          <p:cNvSpPr/>
          <p:nvPr/>
        </p:nvSpPr>
        <p:spPr>
          <a:xfrm>
            <a:off x="8984248" y="1905851"/>
            <a:ext cx="112466" cy="814416"/>
          </a:xfrm>
          <a:prstGeom prst="roundRect">
            <a:avLst/>
          </a:prstGeom>
          <a:solidFill>
            <a:srgbClr val="BE927D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7C7406F-5487-4B46-9FA4-E8D86E3349EB}"/>
              </a:ext>
            </a:extLst>
          </p:cNvPr>
          <p:cNvSpPr/>
          <p:nvPr/>
        </p:nvSpPr>
        <p:spPr>
          <a:xfrm>
            <a:off x="9017621" y="1963099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016C6925-BA38-6F44-8C47-E52AA12E41B2}"/>
              </a:ext>
            </a:extLst>
          </p:cNvPr>
          <p:cNvSpPr/>
          <p:nvPr/>
        </p:nvSpPr>
        <p:spPr>
          <a:xfrm>
            <a:off x="9015192" y="2622064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DDB4CEAC-4972-0C48-8308-E270132DAD56}"/>
              </a:ext>
            </a:extLst>
          </p:cNvPr>
          <p:cNvSpPr/>
          <p:nvPr/>
        </p:nvSpPr>
        <p:spPr>
          <a:xfrm>
            <a:off x="9015192" y="2403116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614701B6-B7CE-7245-909B-DA140513FE4D}"/>
              </a:ext>
            </a:extLst>
          </p:cNvPr>
          <p:cNvSpPr/>
          <p:nvPr/>
        </p:nvSpPr>
        <p:spPr>
          <a:xfrm>
            <a:off x="9015192" y="2182047"/>
            <a:ext cx="45719" cy="45719"/>
          </a:xfrm>
          <a:prstGeom prst="ellips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53" name="Lige forbindelse 52">
            <a:extLst>
              <a:ext uri="{FF2B5EF4-FFF2-40B4-BE49-F238E27FC236}">
                <a16:creationId xmlns:a16="http://schemas.microsoft.com/office/drawing/2014/main" id="{E3A11448-D3BE-4749-95E1-23A383EF5CFA}"/>
              </a:ext>
            </a:extLst>
          </p:cNvPr>
          <p:cNvCxnSpPr>
            <a:cxnSpLocks/>
          </p:cNvCxnSpPr>
          <p:nvPr/>
        </p:nvCxnSpPr>
        <p:spPr>
          <a:xfrm flipH="1">
            <a:off x="8140323" y="3862576"/>
            <a:ext cx="1397391" cy="0"/>
          </a:xfrm>
          <a:prstGeom prst="line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Lige forbindelse 54">
            <a:extLst>
              <a:ext uri="{FF2B5EF4-FFF2-40B4-BE49-F238E27FC236}">
                <a16:creationId xmlns:a16="http://schemas.microsoft.com/office/drawing/2014/main" id="{CA458DEB-17F5-DE4F-B79D-4E38D5B91BAE}"/>
              </a:ext>
            </a:extLst>
          </p:cNvPr>
          <p:cNvCxnSpPr>
            <a:cxnSpLocks/>
          </p:cNvCxnSpPr>
          <p:nvPr/>
        </p:nvCxnSpPr>
        <p:spPr>
          <a:xfrm>
            <a:off x="8140323" y="1985958"/>
            <a:ext cx="0" cy="1892232"/>
          </a:xfrm>
          <a:prstGeom prst="line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Lige forbindelse 56">
            <a:extLst>
              <a:ext uri="{FF2B5EF4-FFF2-40B4-BE49-F238E27FC236}">
                <a16:creationId xmlns:a16="http://schemas.microsoft.com/office/drawing/2014/main" id="{84C832F1-DA59-E84D-8F2D-629C6FA7CA8D}"/>
              </a:ext>
            </a:extLst>
          </p:cNvPr>
          <p:cNvCxnSpPr>
            <a:cxnSpLocks/>
          </p:cNvCxnSpPr>
          <p:nvPr/>
        </p:nvCxnSpPr>
        <p:spPr>
          <a:xfrm flipH="1">
            <a:off x="8140323" y="1985958"/>
            <a:ext cx="574428" cy="0"/>
          </a:xfrm>
          <a:prstGeom prst="line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Lige forbindelse 59">
            <a:extLst>
              <a:ext uri="{FF2B5EF4-FFF2-40B4-BE49-F238E27FC236}">
                <a16:creationId xmlns:a16="http://schemas.microsoft.com/office/drawing/2014/main" id="{20A89627-37E3-A54B-B656-37FC8BD1621C}"/>
              </a:ext>
            </a:extLst>
          </p:cNvPr>
          <p:cNvCxnSpPr>
            <a:cxnSpLocks/>
          </p:cNvCxnSpPr>
          <p:nvPr/>
        </p:nvCxnSpPr>
        <p:spPr>
          <a:xfrm>
            <a:off x="9537714" y="2424782"/>
            <a:ext cx="0" cy="1431918"/>
          </a:xfrm>
          <a:prstGeom prst="line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Lige forbindelse 61">
            <a:extLst>
              <a:ext uri="{FF2B5EF4-FFF2-40B4-BE49-F238E27FC236}">
                <a16:creationId xmlns:a16="http://schemas.microsoft.com/office/drawing/2014/main" id="{91DFC7E5-4404-E049-BE3C-055DCE17957E}"/>
              </a:ext>
            </a:extLst>
          </p:cNvPr>
          <p:cNvCxnSpPr>
            <a:cxnSpLocks/>
          </p:cNvCxnSpPr>
          <p:nvPr/>
        </p:nvCxnSpPr>
        <p:spPr>
          <a:xfrm flipH="1" flipV="1">
            <a:off x="9068407" y="2424782"/>
            <a:ext cx="469307" cy="1193"/>
          </a:xfrm>
          <a:prstGeom prst="line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4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E20CB87-5FCF-1143-9E4F-82E23F4CB9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baseline="-25000" dirty="0"/>
                  <a:t>Overgangsmodstand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400" dirty="0"/>
                  <a:t>3I</a:t>
                </a:r>
                <a:r>
                  <a:rPr lang="da-DK" sz="1400" baseline="-25000" dirty="0"/>
                  <a:t>C0 </a:t>
                </a:r>
                <a:r>
                  <a:rPr lang="da-DK" sz="1400" dirty="0"/>
                  <a:t>- ”25”</a:t>
                </a:r>
                <a:endParaRPr lang="da-DK" sz="1400" baseline="-25000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400" dirty="0"/>
                  <a:t>U</a:t>
                </a:r>
                <a:r>
                  <a:rPr lang="da-DK" sz="1400" baseline="-25000" dirty="0"/>
                  <a:t>TP </a:t>
                </a:r>
                <a:r>
                  <a:rPr lang="da-DK" sz="1400" dirty="0"/>
                  <a:t>- ”80V”</a:t>
                </a:r>
                <a:endParaRPr lang="da-DK" sz="1400" baseline="-25000" dirty="0"/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4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400" i="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da-DK" sz="14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a-DK" sz="1400" i="0">
                            <a:latin typeface="Cambria Math" panose="02040503050406030204" pitchFamily="18" charset="0"/>
                          </a:rPr>
                          <m:t>overgangsmodstand</m:t>
                        </m:r>
                        <m:r>
                          <a:rPr lang="da-DK" sz="14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a-DK" sz="1400" i="0">
                            <a:latin typeface="Cambria Math" panose="02040503050406030204" pitchFamily="18" charset="0"/>
                          </a:rPr>
                          <m:t>til</m:t>
                        </m:r>
                        <m:r>
                          <a:rPr lang="da-DK" sz="14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a-DK" sz="1400" i="0">
                            <a:latin typeface="Cambria Math" panose="02040503050406030204" pitchFamily="18" charset="0"/>
                          </a:rPr>
                          <m:t>jord</m:t>
                        </m:r>
                      </m:sub>
                    </m:sSub>
                    <m:r>
                      <a:rPr lang="da-DK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400" i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400" i="0">
                                <a:latin typeface="Cambria Math" panose="02040503050406030204" pitchFamily="18" charset="0"/>
                              </a:rPr>
                              <m:t>TP</m:t>
                            </m:r>
                          </m:sub>
                        </m:sSub>
                      </m:num>
                      <m:den>
                        <m:r>
                          <a:rPr lang="da-DK" sz="1400" i="0"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da-DK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4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400" i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da-DK" sz="14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a-DK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400" i="0"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da-DK" sz="1400" i="0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da-DK" sz="1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400" i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3,2 </m:t>
                    </m:r>
                    <m:r>
                      <m:rPr>
                        <m:sty m:val="p"/>
                      </m:rPr>
                      <a:rPr lang="da-DK" sz="1400" i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a-DK" sz="1400" b="0" i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a-DK" sz="1400" b="0" i="0" smtClean="0">
                        <a:solidFill>
                          <a:schemeClr val="bg1"/>
                        </a:solidFill>
                        <a:highlight>
                          <a:srgbClr val="00FF00"/>
                        </a:highlight>
                        <a:latin typeface="Cambria Math" panose="02040503050406030204" pitchFamily="18" charset="0"/>
                      </a:rPr>
                      <m:t>OK</m:t>
                    </m:r>
                  </m:oMath>
                </a14:m>
                <a:r>
                  <a:rPr lang="da-DK" sz="1400" dirty="0"/>
                  <a:t> </a:t>
                </a:r>
              </a:p>
              <a:p>
                <a:pPr lvl="1">
                  <a:buFont typeface="Wingdings" pitchFamily="2" charset="2"/>
                  <a:buChar char="Ø"/>
                </a:pPr>
                <a:endParaRPr lang="da-DK" baseline="-25000" dirty="0"/>
              </a:p>
              <a:p>
                <a:pPr marL="457200" lvl="1" indent="0">
                  <a:buNone/>
                </a:pPr>
                <a:endParaRPr lang="da-DK" baseline="-250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E20CB87-5FCF-1143-9E4F-82E23F4CB9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 t="-90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3EE0E937-1DD7-8A44-989F-7712C209B5B0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Overgangsmodstand til neutral jord</a:t>
            </a:r>
            <a:endParaRPr lang="da-DK" sz="24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ktangel 1">
                <a:extLst>
                  <a:ext uri="{FF2B5EF4-FFF2-40B4-BE49-F238E27FC236}">
                    <a16:creationId xmlns:a16="http://schemas.microsoft.com/office/drawing/2014/main" id="{F9D60AAD-FA9A-4940-AE4C-6B5EC6034E6A}"/>
                  </a:ext>
                </a:extLst>
              </p:cNvPr>
              <p:cNvSpPr/>
              <p:nvPr/>
            </p:nvSpPr>
            <p:spPr>
              <a:xfrm>
                <a:off x="6556286" y="2929016"/>
                <a:ext cx="1397626" cy="6576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da-DK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da-DK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b="0" i="0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da-DK" b="0" i="0" baseline="-25000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a:rPr lang="da-DK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da-DK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da-DK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da-DK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da-DK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ktangel 1">
                <a:extLst>
                  <a:ext uri="{FF2B5EF4-FFF2-40B4-BE49-F238E27FC236}">
                    <a16:creationId xmlns:a16="http://schemas.microsoft.com/office/drawing/2014/main" id="{F9D60AAD-FA9A-4940-AE4C-6B5EC6034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286" y="2929016"/>
                <a:ext cx="1397626" cy="6576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76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767183CF-B6BD-9080-49E2-A4960DD5380F}"/>
                  </a:ext>
                </a:extLst>
              </p:cNvPr>
              <p:cNvSpPr txBox="1"/>
              <p:nvPr/>
            </p:nvSpPr>
            <p:spPr>
              <a:xfrm>
                <a:off x="17018" y="1317384"/>
                <a:ext cx="6573266" cy="447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da-DK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𝑖𝑘𝑚𝑎𝑥</m:t>
                                  </m:r>
                                  <m:r>
                                    <m:rPr>
                                      <m:lit/>
                                    </m:rPr>
                                    <a:rPr lang="da-DK" i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𝐻𝑇</m:t>
                                  </m:r>
                                  <m:r>
                                    <a:rPr lang="da-DK" i="0">
                                      <a:latin typeface="Cambria Math" panose="02040503050406030204" pitchFamily="18" charset="0"/>
                                    </a:rPr>
                                    <m:t>02→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𝑈𝑇</m:t>
                                  </m:r>
                                  <m:r>
                                    <a:rPr lang="da-DK" i="0">
                                      <a:latin typeface="Cambria Math" panose="02040503050406030204" pitchFamily="18" charset="0"/>
                                    </a:rPr>
                                    <m:t>02</m:t>
                                  </m:r>
                                </m:sub>
                              </m:sSub>
                              <m:r>
                                <a:rPr lang="da-DK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𝑎𝑓𝑙</m:t>
                          </m:r>
                          <m:r>
                            <a:rPr lang="da-DK" i="0">
                              <a:latin typeface="Cambria Math" panose="02040503050406030204" pitchFamily="18" charset="0"/>
                            </a:rPr>
                            <m:t>æ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da-DK" i="0"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da-DK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𝑃𝑒𝑎𝑘</m:t>
                          </m:r>
                          <m:r>
                            <a:rPr lang="da-DK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𝑘𝑢𝑟𝑣𝑒</m:t>
                          </m:r>
                        </m:sub>
                      </m:sSub>
                      <m:r>
                        <a:rPr lang="da-DK" i="0">
                          <a:latin typeface="Cambria Math" panose="02040503050406030204" pitchFamily="18" charset="0"/>
                        </a:rPr>
                        <m:t>=9,9·2,3=22,77 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𝑘𝐴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767183CF-B6BD-9080-49E2-A4960DD53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8" y="1317384"/>
                <a:ext cx="6573266" cy="447495"/>
              </a:xfrm>
              <a:prstGeom prst="rect">
                <a:avLst/>
              </a:prstGeom>
              <a:blipFill>
                <a:blip r:embed="rId2"/>
                <a:stretch>
                  <a:fillRect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6FA04B53-60AE-64DE-FF12-2312AF11BEA8}"/>
                  </a:ext>
                </a:extLst>
              </p:cNvPr>
              <p:cNvSpPr txBox="1"/>
              <p:nvPr/>
            </p:nvSpPr>
            <p:spPr>
              <a:xfrm>
                <a:off x="6647311" y="4833672"/>
                <a:ext cx="6094476" cy="538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sSup>
                        <m:sSup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140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·6,3</m:t>
                      </m:r>
                      <m:sSup>
                        <m:sSup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ctrlPr>
                                <a:rPr lang="da-DK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400">
                                  <a:latin typeface="Cambria Math" panose="02040503050406030204" pitchFamily="18" charset="0"/>
                                </a:rPr>
                                <m:t>143·150</m:t>
                              </m:r>
                            </m:e>
                          </m:d>
                        </m:e>
                        <m:sup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140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da-DK" sz="14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>
                          <a:latin typeface="Cambria Math" panose="02040503050406030204" pitchFamily="18" charset="0"/>
                        </a:rPr>
                        <m:t> 6,3·</m:t>
                      </m:r>
                      <m:sSup>
                        <m:sSup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da-DK" sz="1400">
                          <a:latin typeface="Cambria Math" panose="02040503050406030204" pitchFamily="18" charset="0"/>
                        </a:rPr>
                        <m:t>≤4,6·</m:t>
                      </m:r>
                      <m:sSup>
                        <m:sSup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da-DK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6FA04B53-60AE-64DE-FF12-2312AF11B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311" y="4833672"/>
                <a:ext cx="6094476" cy="5382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C7EA3CD2-B121-AB78-7B81-CE6A5D97BC20}"/>
                  </a:ext>
                </a:extLst>
              </p:cNvPr>
              <p:cNvSpPr txBox="1"/>
              <p:nvPr/>
            </p:nvSpPr>
            <p:spPr>
              <a:xfrm>
                <a:off x="241362" y="3535174"/>
                <a:ext cx="6616700" cy="648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0,9·400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a-DK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a-DK" sz="1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·</m:t>
                          </m:r>
                          <m:d>
                            <m:dPr>
                              <m:ctrlPr>
                                <a:rPr lang="da-DK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400">
                                  <a:latin typeface="Cambria Math" panose="02040503050406030204" pitchFamily="18" charset="0"/>
                                </a:rPr>
                                <m:t>22,71+</m:t>
                              </m:r>
                              <m:d>
                                <m:dPr>
                                  <m:ctrlPr>
                                    <a:rPr lang="da-DK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400">
                                      <a:latin typeface="Cambria Math" panose="02040503050406030204" pitchFamily="18" charset="0"/>
                                    </a:rPr>
                                    <m:t>2·</m:t>
                                  </m:r>
                                  <m:d>
                                    <m:dPr>
                                      <m:ctrlPr>
                                        <a:rPr lang="da-DK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sz="1400">
                                          <a:latin typeface="Cambria Math" panose="02040503050406030204" pitchFamily="18" charset="0"/>
                                        </a:rPr>
                                        <m:t>1,6·6,3·6,6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da-DK" sz="1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da-DK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400">
                                      <a:latin typeface="Cambria Math" panose="02040503050406030204" pitchFamily="18" charset="0"/>
                                    </a:rPr>
                                    <m:t>1,48·1·0,72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da-DK" sz="1400">
                          <a:latin typeface="Cambria Math" panose="02040503050406030204" pitchFamily="18" charset="0"/>
                        </a:rPr>
                        <m:t> ≈1,32 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𝑘𝐴</m:t>
                      </m:r>
                    </m:oMath>
                  </m:oMathPara>
                </a14:m>
                <a:endParaRPr lang="da-DK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C7EA3CD2-B121-AB78-7B81-CE6A5D97B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62" y="3535174"/>
                <a:ext cx="6616700" cy="648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8AB36408-6329-31F5-749F-057E00DD7290}"/>
                  </a:ext>
                </a:extLst>
              </p:cNvPr>
              <p:cNvSpPr txBox="1"/>
              <p:nvPr/>
            </p:nvSpPr>
            <p:spPr>
              <a:xfrm>
                <a:off x="736027" y="2729984"/>
                <a:ext cx="6135624" cy="489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sz="140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da-DK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40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a-DK" sz="1400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da-DK" sz="14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da-DK" sz="140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da-DK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40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a-DK" sz="140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da-DK" sz="1400">
                            <a:latin typeface="Cambria Math" panose="020405030504060302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40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40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da-DK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a-DK" sz="140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da-DK" sz="1400">
                            <a:latin typeface="Cambria Math" panose="02040503050406030204" pitchFamily="18" charset="0"/>
                          </a:rPr>
                          <m:t>·</m:t>
                        </m:r>
                        <m:d>
                          <m:dPr>
                            <m:ctrlPr>
                              <a:rPr lang="da-DK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a-DK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𝑛𝑒𝑡</m:t>
                                </m:r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da-DK" sz="1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da-DK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da-DK" sz="14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sSub>
                                  <m:sSubPr>
                                    <m:ctrlPr>
                                      <a:rPr lang="da-DK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a-DK" sz="1400">
                                        <a:latin typeface="Cambria Math" panose="02040503050406030204" pitchFamily="18" charset="0"/>
                                      </a:rPr>
                                      <m:t>𝐻𝑙</m:t>
                                    </m:r>
                                  </m:sub>
                                </m:sSub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sSub>
                                  <m:sSubPr>
                                    <m:ctrlPr>
                                      <a:rPr lang="da-DK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da-DK" sz="1400">
                                        <a:latin typeface="Cambria Math" panose="02040503050406030204" pitchFamily="18" charset="0"/>
                                      </a:rPr>
                                      <m:t>𝐻𝑙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da-DK" sz="1400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400">
                            <a:latin typeface="Cambria Math" panose="02040503050406030204" pitchFamily="18" charset="0"/>
                          </a:rPr>
                          <m:t>1,1·400</m:t>
                        </m:r>
                      </m:num>
                      <m:den>
                        <m:d>
                          <m:dPr>
                            <m:begChr m:val=""/>
                            <m:ctrlPr>
                              <a:rPr lang="da-DK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da-DK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da-DK" sz="1400">
                                <a:latin typeface="Cambria Math" panose="02040503050406030204" pitchFamily="18" charset="0"/>
                              </a:rPr>
                              <m:t>·</m:t>
                            </m:r>
                            <m:d>
                              <m:dPr>
                                <m:ctrlPr>
                                  <a:rPr lang="da-DK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a-DK" sz="1400">
                                    <a:latin typeface="Cambria Math" panose="02040503050406030204" pitchFamily="18" charset="0"/>
                                  </a:rPr>
                                  <m:t>11,15+</m:t>
                                </m:r>
                                <m:d>
                                  <m:dPr>
                                    <m:endChr m:val=""/>
                                    <m:ctrlPr>
                                      <a:rPr lang="da-DK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a-DK" sz="1400">
                                        <a:latin typeface="Cambria Math" panose="02040503050406030204" pitchFamily="18" charset="0"/>
                                      </a:rPr>
                                      <m:t>1·6,39·6,64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den>
                    </m:f>
                    <m:r>
                      <a:rPr lang="da-DK" sz="1400">
                        <a:latin typeface="Cambria Math" panose="02040503050406030204" pitchFamily="18" charset="0"/>
                      </a:rPr>
                      <m:t>≈4,9 </m:t>
                    </m:r>
                    <m:r>
                      <a:rPr lang="da-DK" sz="1400">
                        <a:latin typeface="Cambria Math" panose="02040503050406030204" pitchFamily="18" charset="0"/>
                      </a:rPr>
                      <m:t>𝑘𝐴</m:t>
                    </m:r>
                  </m:oMath>
                </a14:m>
                <a:endParaRPr lang="da-DK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8AB36408-6329-31F5-749F-057E00DD7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27" y="2729984"/>
                <a:ext cx="6135624" cy="489045"/>
              </a:xfrm>
              <a:prstGeom prst="rect">
                <a:avLst/>
              </a:prstGeom>
              <a:blipFill>
                <a:blip r:embed="rId5"/>
                <a:stretch>
                  <a:fillRect t="-66250" b="-1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84BD945A-EEC8-E513-578D-0EBFD8A5E3E8}"/>
                  </a:ext>
                </a:extLst>
              </p:cNvPr>
              <p:cNvSpPr txBox="1"/>
              <p:nvPr/>
            </p:nvSpPr>
            <p:spPr>
              <a:xfrm>
                <a:off x="6606163" y="4302981"/>
                <a:ext cx="61356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140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 ≤</m:t>
                      </m:r>
                      <m:sSup>
                        <m:sSup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4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a-DK" sz="140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a-DK" sz="14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p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a-DK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84BD945A-EEC8-E513-578D-0EBFD8A5E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163" y="4302981"/>
                <a:ext cx="613562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kstfelt 9">
            <a:extLst>
              <a:ext uri="{FF2B5EF4-FFF2-40B4-BE49-F238E27FC236}">
                <a16:creationId xmlns:a16="http://schemas.microsoft.com/office/drawing/2014/main" id="{75DE7489-2221-5752-828F-DF9849C77DB5}"/>
              </a:ext>
            </a:extLst>
          </p:cNvPr>
          <p:cNvSpPr txBox="1"/>
          <p:nvPr/>
        </p:nvSpPr>
        <p:spPr>
          <a:xfrm>
            <a:off x="8627439" y="3772268"/>
            <a:ext cx="209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latin typeface="Cambria Math" panose="02040503050406030204" pitchFamily="18" charset="0"/>
              </a:rPr>
              <a:t>Kortslutningsbeskyttelse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felt 10">
                <a:extLst>
                  <a:ext uri="{FF2B5EF4-FFF2-40B4-BE49-F238E27FC236}">
                    <a16:creationId xmlns:a16="http://schemas.microsoft.com/office/drawing/2014/main" id="{9DDEA13C-4A3E-CAE0-58C7-D334DF536D45}"/>
                  </a:ext>
                </a:extLst>
              </p:cNvPr>
              <p:cNvSpPr txBox="1"/>
              <p:nvPr/>
            </p:nvSpPr>
            <p:spPr>
              <a:xfrm>
                <a:off x="6386497" y="5581723"/>
                <a:ext cx="64243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>
                          <a:latin typeface="Cambria Math" panose="02040503050406030204" pitchFamily="18" charset="0"/>
                        </a:rPr>
                        <m:t>𝑡𝑖𝑑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𝑎𝑓𝑙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æ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𝑡𝑖𝑑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400">
                          <a:latin typeface="Cambria Math" panose="02040503050406030204" pitchFamily="18" charset="0"/>
                        </a:rPr>
                        <m:t>𝑘𝑟𝑎𝑣</m:t>
                      </m:r>
                    </m:oMath>
                  </m:oMathPara>
                </a14:m>
                <a:endParaRPr lang="da-DK" sz="14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>
                          <a:latin typeface="Cambria Math" panose="02040503050406030204" pitchFamily="18" charset="0"/>
                        </a:rPr>
                        <m:t>2,55≤5</m:t>
                      </m:r>
                    </m:oMath>
                  </m:oMathPara>
                </a14:m>
                <a:endParaRPr lang="da-DK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kstfelt 10">
                <a:extLst>
                  <a:ext uri="{FF2B5EF4-FFF2-40B4-BE49-F238E27FC236}">
                    <a16:creationId xmlns:a16="http://schemas.microsoft.com/office/drawing/2014/main" id="{9DDEA13C-4A3E-CAE0-58C7-D334DF536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497" y="5581723"/>
                <a:ext cx="642436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519CE984-28F8-BEA3-000B-A868B381F09D}"/>
                  </a:ext>
                </a:extLst>
              </p:cNvPr>
              <p:cNvSpPr txBox="1"/>
              <p:nvPr/>
            </p:nvSpPr>
            <p:spPr>
              <a:xfrm>
                <a:off x="-102868" y="1947714"/>
                <a:ext cx="6669464" cy="546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400">
                              <a:latin typeface="Cambria Math" panose="02040503050406030204" pitchFamily="18" charset="0"/>
                            </a:rPr>
                            <m:t>400</m:t>
                          </m:r>
                          <m:r>
                            <a:rPr lang="da-DK" sz="1400" i="0">
                              <a:latin typeface="Cambria Math" panose="02040503050406030204" pitchFamily="18" charset="0"/>
                            </a:rPr>
                            <m:t>·0,9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a-DK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a-DK" sz="1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da-DK" sz="1400" i="0">
                              <a:latin typeface="Cambria Math" panose="02040503050406030204" pitchFamily="18" charset="0"/>
                            </a:rPr>
                            <m:t>·9,15</m:t>
                          </m:r>
                        </m:den>
                      </m:f>
                      <m:r>
                        <a:rPr lang="da-DK" sz="1400" i="0">
                          <a:latin typeface="Cambria Math" panose="02040503050406030204" pitchFamily="18" charset="0"/>
                        </a:rPr>
                        <m:t>≈22,71 </m:t>
                      </m:r>
                      <m:r>
                        <m:rPr>
                          <m:sty m:val="p"/>
                        </m:rPr>
                        <a:rPr lang="da-DK" sz="14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da-DK" sz="1400" i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a-DK" sz="1400" dirty="0"/>
              </a:p>
            </p:txBody>
          </p:sp>
        </mc:Choice>
        <mc:Fallback xmlns="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519CE984-28F8-BEA3-000B-A868B381F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868" y="1947714"/>
                <a:ext cx="6669464" cy="5466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87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6" grpId="0"/>
      <p:bldP spid="8" grpId="0"/>
      <p:bldP spid="8" grpId="1"/>
      <p:bldP spid="9" grpId="0"/>
      <p:bldP spid="10" grpId="0"/>
      <p:bldP spid="11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{9037C379-281D-D546-9CDB-20D71457459D}tf10001062</Template>
  <TotalTime>395</TotalTime>
  <Words>251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Wingdings</vt:lpstr>
      <vt:lpstr>Wingdings 3</vt:lpstr>
      <vt:lpstr>Ion</vt:lpstr>
      <vt:lpstr>Jordingssystemer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Dimensionering af trafo</dc:title>
  <dc:creator>Nicolai Alexander Skjershede</dc:creator>
  <cp:lastModifiedBy>Saeed Hashdari</cp:lastModifiedBy>
  <cp:revision>41</cp:revision>
  <dcterms:created xsi:type="dcterms:W3CDTF">2021-04-04T16:29:49Z</dcterms:created>
  <dcterms:modified xsi:type="dcterms:W3CDTF">2023-04-11T21:44:50Z</dcterms:modified>
</cp:coreProperties>
</file>