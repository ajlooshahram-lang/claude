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927D"/>
    <a:srgbClr val="E0D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llemlayout 2 - Marker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6"/>
    <p:restoredTop sz="94681"/>
  </p:normalViewPr>
  <p:slideViewPr>
    <p:cSldViewPr snapToGrid="0" snapToObjects="1">
      <p:cViewPr varScale="1">
        <p:scale>
          <a:sx n="107" d="100"/>
          <a:sy n="107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F5953-2162-8C47-83A6-19977CBA448E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BE886-EB35-5B4D-A3C3-4607C4882C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234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183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3369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489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566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77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547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815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089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649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347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1307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1857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0665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3455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9638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5403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369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D20890F-54DF-3940-AF04-11D264C11A1F}" type="datetimeFigureOut">
              <a:rPr lang="da-DK" smtClean="0"/>
              <a:t>06.04.2021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9736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n sidevisning af en abstrakt hvid og grå Flet i sfære form-visning">
            <a:extLst>
              <a:ext uri="{FF2B5EF4-FFF2-40B4-BE49-F238E27FC236}">
                <a16:creationId xmlns:a16="http://schemas.microsoft.com/office/drawing/2014/main" id="{58AFE352-5582-1742-84C8-6AF17646FD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9091" t="25889"/>
          <a:stretch/>
        </p:blipFill>
        <p:spPr>
          <a:xfrm>
            <a:off x="20" y="302022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2ABB5F1-03F8-4349-91DD-77EF2C4AE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0932" y="3126983"/>
            <a:ext cx="9194533" cy="604034"/>
          </a:xfrm>
        </p:spPr>
        <p:txBody>
          <a:bodyPr>
            <a:noAutofit/>
          </a:bodyPr>
          <a:lstStyle/>
          <a:p>
            <a:r>
              <a:rPr lang="da-DK" sz="6000" dirty="0"/>
              <a:t>Overstrømsbeskyttelse</a:t>
            </a:r>
          </a:p>
        </p:txBody>
      </p:sp>
    </p:spTree>
    <p:extLst>
      <p:ext uri="{BB962C8B-B14F-4D97-AF65-F5344CB8AC3E}">
        <p14:creationId xmlns:p14="http://schemas.microsoft.com/office/powerpoint/2010/main" val="136620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61345C-91B7-4F4F-AB72-19C914EDC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Generel forståelse omkring overstrømsbeskyttelses udstyr - OB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Smeltesikringer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Kredsbryder - MCCB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Minikredsbryder - MCB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Manuel motorværn – MMS</a:t>
            </a:r>
          </a:p>
          <a:p>
            <a:r>
              <a:rPr lang="da-DK" sz="1400" dirty="0"/>
              <a:t>Generel forståelse omkring kortslutningsbeskyttelse - KB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Ikmax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IKmin – F+N F+PE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Kortslutningskontrol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43E6AEB-0D73-D44E-BA8B-9685F7F8400A}"/>
              </a:ext>
            </a:extLst>
          </p:cNvPr>
          <p:cNvSpPr txBox="1">
            <a:spLocks/>
          </p:cNvSpPr>
          <p:nvPr/>
        </p:nvSpPr>
        <p:spPr>
          <a:xfrm>
            <a:off x="1103312" y="998912"/>
            <a:ext cx="5662613" cy="6040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500" dirty="0">
                <a:cs typeface="Calibri" panose="020F0502020204030204" pitchFamily="34" charset="0"/>
              </a:rPr>
              <a:t>Disposition</a:t>
            </a:r>
            <a:r>
              <a:rPr lang="da-DK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557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014810C-4BFC-1944-96D3-D7995FD95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Opbygning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Sølvtråd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Kvartsand</a:t>
            </a:r>
          </a:p>
          <a:p>
            <a:r>
              <a:rPr lang="da-DK" sz="1400" dirty="0"/>
              <a:t>Virkemåde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Kortslutning vil medføre sølvtråden smelter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Tråden vil ligge sig som perler på en snor i kvartsandet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Sølvdampe og kvartsand bliver til keramik/glas</a:t>
            </a:r>
          </a:p>
          <a:p>
            <a:endParaRPr lang="da-DK" sz="1400" dirty="0"/>
          </a:p>
          <a:p>
            <a:endParaRPr lang="da-DK" sz="1400" dirty="0"/>
          </a:p>
          <a:p>
            <a:endParaRPr lang="da-DK" sz="1400" dirty="0"/>
          </a:p>
          <a:p>
            <a:pPr marL="457200" lvl="1" indent="0">
              <a:buNone/>
            </a:pPr>
            <a:endParaRPr lang="da-DK" sz="1200" dirty="0"/>
          </a:p>
          <a:p>
            <a:pPr marL="0" indent="0">
              <a:buNone/>
            </a:pPr>
            <a:endParaRPr lang="da-DK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D768CFB-B7C8-D547-A1F8-1DC20D582DB5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Smeltesikringer</a:t>
            </a:r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AFFB3C14-1F5D-4047-992F-3F89AF270CA0}"/>
              </a:ext>
            </a:extLst>
          </p:cNvPr>
          <p:cNvSpPr/>
          <p:nvPr/>
        </p:nvSpPr>
        <p:spPr>
          <a:xfrm>
            <a:off x="7733662" y="3102153"/>
            <a:ext cx="2116073" cy="753258"/>
          </a:xfrm>
          <a:prstGeom prst="rect">
            <a:avLst/>
          </a:prstGeom>
          <a:blipFill>
            <a:blip r:embed="rId2">
              <a:alphaModFix amt="54000"/>
            </a:blip>
            <a:stretch>
              <a:fillRect/>
            </a:stretch>
          </a:blip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F3B3B157-C8D4-C24A-90C1-156FBE981E86}"/>
              </a:ext>
            </a:extLst>
          </p:cNvPr>
          <p:cNvCxnSpPr>
            <a:cxnSpLocks/>
          </p:cNvCxnSpPr>
          <p:nvPr/>
        </p:nvCxnSpPr>
        <p:spPr>
          <a:xfrm>
            <a:off x="9849735" y="3478782"/>
            <a:ext cx="41689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2599E3D7-9BC8-8B43-BB47-7C190AEFC393}"/>
              </a:ext>
            </a:extLst>
          </p:cNvPr>
          <p:cNvCxnSpPr>
            <a:cxnSpLocks/>
          </p:cNvCxnSpPr>
          <p:nvPr/>
        </p:nvCxnSpPr>
        <p:spPr>
          <a:xfrm>
            <a:off x="7316764" y="3502594"/>
            <a:ext cx="41689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6828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09CB8DF-31F5-1047-BAB9-AF19B6327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Typer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Termisk - (TMD - TMA)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Elektronisk - (Ekip)</a:t>
            </a:r>
          </a:p>
          <a:p>
            <a:r>
              <a:rPr lang="da-DK" sz="1400" dirty="0"/>
              <a:t>Termisk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Automatsikring som kan indstilles via analogisk drejefunktion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Indstilles efter IKmin kortslutningsberegning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Effektiv magnetudløser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Kortslutningskontrol</a:t>
            </a:r>
          </a:p>
          <a:p>
            <a:pPr lvl="0">
              <a:buClr>
                <a:srgbClr val="1E5155">
                  <a:lumMod val="40000"/>
                  <a:lumOff val="60000"/>
                </a:srgbClr>
              </a:buClr>
            </a:pPr>
            <a:r>
              <a:rPr lang="da-DK" sz="1400" dirty="0">
                <a:solidFill>
                  <a:prstClr val="white"/>
                </a:solidFill>
              </a:rPr>
              <a:t>Elektronisk</a:t>
            </a:r>
          </a:p>
          <a:p>
            <a:pPr lvl="1">
              <a:buClr>
                <a:srgbClr val="1E5155">
                  <a:lumMod val="40000"/>
                  <a:lumOff val="60000"/>
                </a:srgbClr>
              </a:buClr>
              <a:buFont typeface="Wingdings" pitchFamily="2" charset="2"/>
              <a:buChar char="Ø"/>
            </a:pPr>
            <a:r>
              <a:rPr lang="da-DK" sz="1200" dirty="0">
                <a:solidFill>
                  <a:prstClr val="white"/>
                </a:solidFill>
              </a:rPr>
              <a:t>Automatsikring som kan indstilles via dipswitches</a:t>
            </a:r>
          </a:p>
          <a:p>
            <a:pPr lvl="1">
              <a:buClr>
                <a:srgbClr val="1E5155">
                  <a:lumMod val="40000"/>
                  <a:lumOff val="60000"/>
                </a:srgbClr>
              </a:buClr>
              <a:buFont typeface="Wingdings" pitchFamily="2" charset="2"/>
              <a:buChar char="Ø"/>
            </a:pPr>
            <a:r>
              <a:rPr lang="da-DK" sz="1200" dirty="0"/>
              <a:t>Indstilles efter IKmin kortslutningsberegning - (kan indstilles ud fra LSI)</a:t>
            </a:r>
          </a:p>
          <a:p>
            <a:pPr marL="457200" lvl="1" indent="0">
              <a:buClr>
                <a:srgbClr val="1E5155">
                  <a:lumMod val="40000"/>
                  <a:lumOff val="60000"/>
                </a:srgbClr>
              </a:buClr>
              <a:buNone/>
            </a:pPr>
            <a:endParaRPr lang="da-DK" sz="1200" dirty="0"/>
          </a:p>
          <a:p>
            <a:pPr lvl="1">
              <a:buClr>
                <a:srgbClr val="1E5155">
                  <a:lumMod val="40000"/>
                  <a:lumOff val="60000"/>
                </a:srgbClr>
              </a:buClr>
            </a:pPr>
            <a:endParaRPr lang="da-DK" sz="1200" dirty="0">
              <a:solidFill>
                <a:prstClr val="white"/>
              </a:solidFill>
            </a:endParaRPr>
          </a:p>
          <a:p>
            <a:pPr marL="0" indent="0">
              <a:buNone/>
            </a:pPr>
            <a:endParaRPr lang="da-DK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96AD4C47-1256-C04B-B4D1-AE5F4E005FAF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Kredsbryder - MCCB</a:t>
            </a:r>
            <a:endParaRPr lang="da-DK" sz="2400" baseline="-25000" dirty="0"/>
          </a:p>
        </p:txBody>
      </p:sp>
      <p:pic>
        <p:nvPicPr>
          <p:cNvPr id="29" name="Billede 28" descr="Et billede, der indeholder legetøj&#10;&#10;Automatisk genereret beskrivelse">
            <a:extLst>
              <a:ext uri="{FF2B5EF4-FFF2-40B4-BE49-F238E27FC236}">
                <a16:creationId xmlns:a16="http://schemas.microsoft.com/office/drawing/2014/main" id="{6FE2B85D-4ADC-9A45-A4D0-4192B062704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052" y="2480890"/>
            <a:ext cx="1389268" cy="206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87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18836AB-3D35-814B-A1B0-D46B0ACBE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Karakteristik</a:t>
            </a:r>
            <a:endParaRPr lang="da-DK" sz="1200" dirty="0"/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B - (5 x mærkestrøm)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C - (10 x mærkestrøm)</a:t>
            </a:r>
          </a:p>
          <a:p>
            <a:pPr lvl="1">
              <a:buFont typeface="Wingdings" pitchFamily="2" charset="2"/>
              <a:buChar char="Ø"/>
            </a:pPr>
            <a:r>
              <a:rPr lang="da-DK" sz="1200" dirty="0"/>
              <a:t>D - (20 x mærkestrøm)</a:t>
            </a:r>
          </a:p>
          <a:p>
            <a:pPr lvl="0">
              <a:buClr>
                <a:srgbClr val="1E5155">
                  <a:lumMod val="40000"/>
                  <a:lumOff val="60000"/>
                </a:srgbClr>
              </a:buClr>
            </a:pPr>
            <a:r>
              <a:rPr lang="da-DK" sz="1400" dirty="0">
                <a:solidFill>
                  <a:prstClr val="white"/>
                </a:solidFill>
              </a:rPr>
              <a:t>Komponentvalg i tavle</a:t>
            </a:r>
          </a:p>
          <a:p>
            <a:pPr lvl="1">
              <a:buClr>
                <a:srgbClr val="1E5155">
                  <a:lumMod val="40000"/>
                  <a:lumOff val="60000"/>
                </a:srgbClr>
              </a:buClr>
              <a:buFont typeface="Wingdings" pitchFamily="2" charset="2"/>
              <a:buChar char="Ø"/>
            </a:pPr>
            <a:r>
              <a:rPr lang="da-DK" sz="1200" dirty="0">
                <a:solidFill>
                  <a:prstClr val="white"/>
                </a:solidFill>
              </a:rPr>
              <a:t>I</a:t>
            </a:r>
            <a:r>
              <a:rPr lang="da-DK" sz="1200" baseline="-25000" dirty="0">
                <a:solidFill>
                  <a:prstClr val="white"/>
                </a:solidFill>
              </a:rPr>
              <a:t>CU</a:t>
            </a:r>
          </a:p>
          <a:p>
            <a:pPr lvl="1">
              <a:buClr>
                <a:srgbClr val="1E5155">
                  <a:lumMod val="40000"/>
                  <a:lumOff val="60000"/>
                </a:srgbClr>
              </a:buClr>
              <a:buFont typeface="Wingdings" pitchFamily="2" charset="2"/>
              <a:buChar char="Ø"/>
            </a:pPr>
            <a:r>
              <a:rPr lang="da-DK" sz="1200" dirty="0">
                <a:solidFill>
                  <a:prstClr val="white"/>
                </a:solidFill>
              </a:rPr>
              <a:t>I</a:t>
            </a:r>
            <a:r>
              <a:rPr lang="da-DK" sz="1200" baseline="-25000" dirty="0">
                <a:solidFill>
                  <a:prstClr val="white"/>
                </a:solidFill>
              </a:rPr>
              <a:t>CS</a:t>
            </a:r>
          </a:p>
          <a:p>
            <a:pPr lvl="1">
              <a:buClr>
                <a:srgbClr val="1E5155">
                  <a:lumMod val="40000"/>
                  <a:lumOff val="60000"/>
                </a:srgbClr>
              </a:buClr>
              <a:buFont typeface="Wingdings" pitchFamily="2" charset="2"/>
              <a:buChar char="Ø"/>
            </a:pPr>
            <a:r>
              <a:rPr lang="da-DK" sz="1200" dirty="0">
                <a:solidFill>
                  <a:prstClr val="white"/>
                </a:solidFill>
              </a:rPr>
              <a:t>I</a:t>
            </a:r>
            <a:r>
              <a:rPr lang="da-DK" sz="1200" baseline="-25000" dirty="0">
                <a:solidFill>
                  <a:prstClr val="white"/>
                </a:solidFill>
              </a:rPr>
              <a:t>CN</a:t>
            </a:r>
          </a:p>
          <a:p>
            <a:pPr lvl="0">
              <a:buClr>
                <a:srgbClr val="1E5155">
                  <a:lumMod val="40000"/>
                  <a:lumOff val="60000"/>
                </a:srgbClr>
              </a:buClr>
            </a:pPr>
            <a:r>
              <a:rPr lang="da-DK" sz="1400" dirty="0">
                <a:solidFill>
                  <a:prstClr val="white"/>
                </a:solidFill>
              </a:rPr>
              <a:t>Magnetudløser</a:t>
            </a:r>
          </a:p>
          <a:p>
            <a:pPr lvl="1">
              <a:buClr>
                <a:srgbClr val="1E5155">
                  <a:lumMod val="40000"/>
                  <a:lumOff val="60000"/>
                </a:srgbClr>
              </a:buClr>
              <a:buFont typeface="Wingdings" pitchFamily="2" charset="2"/>
              <a:buChar char="Ø"/>
            </a:pPr>
            <a:r>
              <a:rPr lang="da-DK" sz="1200" dirty="0">
                <a:solidFill>
                  <a:prstClr val="white"/>
                </a:solidFill>
              </a:rPr>
              <a:t>Fejlbeskyttelse	</a:t>
            </a:r>
          </a:p>
          <a:p>
            <a:pPr lvl="1">
              <a:buFont typeface="Wingdings" pitchFamily="2" charset="2"/>
              <a:buChar char="Ø"/>
            </a:pPr>
            <a:endParaRPr lang="da-DK" sz="1200" dirty="0"/>
          </a:p>
          <a:p>
            <a:pPr marL="457200" lvl="1" indent="0">
              <a:buNone/>
            </a:pPr>
            <a:endParaRPr lang="da-DK" sz="1200" baseline="-25000" dirty="0"/>
          </a:p>
          <a:p>
            <a:pPr marL="457200" lvl="1" indent="0">
              <a:buNone/>
            </a:pPr>
            <a:endParaRPr lang="da-DK" sz="1200" dirty="0"/>
          </a:p>
          <a:p>
            <a:endParaRPr lang="da-DK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6138A37C-C430-BD46-ABA1-BE19F21CD2D0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Minikredsbryder - MCB</a:t>
            </a:r>
            <a:endParaRPr lang="da-DK" sz="2400" baseline="-25000" dirty="0"/>
          </a:p>
        </p:txBody>
      </p:sp>
    </p:spTree>
    <p:extLst>
      <p:ext uri="{BB962C8B-B14F-4D97-AF65-F5344CB8AC3E}">
        <p14:creationId xmlns:p14="http://schemas.microsoft.com/office/powerpoint/2010/main" val="3013459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EC86ADA-00E1-3C4C-91A8-E71F1E6DB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Bruges typisk foran motorer – enten som OB eller KB</a:t>
            </a:r>
          </a:p>
          <a:p>
            <a:pPr lvl="1"/>
            <a:r>
              <a:rPr lang="da-DK" sz="1200" dirty="0"/>
              <a:t>Peak strømme</a:t>
            </a:r>
          </a:p>
          <a:p>
            <a:pPr lvl="1"/>
            <a:r>
              <a:rPr lang="da-DK" sz="1200" dirty="0"/>
              <a:t>Startstrømme</a:t>
            </a:r>
          </a:p>
          <a:p>
            <a:pPr lvl="1"/>
            <a:r>
              <a:rPr lang="da-DK" sz="1200" dirty="0"/>
              <a:t>Kortslutningsbeskyttelse</a:t>
            </a:r>
          </a:p>
          <a:p>
            <a:endParaRPr lang="da-DK" sz="1000" dirty="0"/>
          </a:p>
          <a:p>
            <a:pPr marL="457200" lvl="1" indent="0">
              <a:buNone/>
            </a:pPr>
            <a:br>
              <a:rPr lang="da-DK" sz="1000" dirty="0"/>
            </a:br>
            <a:endParaRPr lang="da-DK" sz="1000" dirty="0"/>
          </a:p>
          <a:p>
            <a:pPr marL="457200" lvl="1" indent="0">
              <a:buNone/>
            </a:pPr>
            <a:endParaRPr lang="da-DK" sz="12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ABFF85A2-DFEE-224A-B312-30F0647DA527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Manuel motorværn - MMS</a:t>
            </a:r>
            <a:endParaRPr lang="da-DK" sz="2400" baseline="-25000" dirty="0"/>
          </a:p>
        </p:txBody>
      </p:sp>
      <p:cxnSp>
        <p:nvCxnSpPr>
          <p:cNvPr id="37" name="Lige forbindelse 36">
            <a:extLst>
              <a:ext uri="{FF2B5EF4-FFF2-40B4-BE49-F238E27FC236}">
                <a16:creationId xmlns:a16="http://schemas.microsoft.com/office/drawing/2014/main" id="{35F03CA0-5D66-2E40-861C-D79B633FF682}"/>
              </a:ext>
            </a:extLst>
          </p:cNvPr>
          <p:cNvCxnSpPr>
            <a:cxnSpLocks/>
          </p:cNvCxnSpPr>
          <p:nvPr/>
        </p:nvCxnSpPr>
        <p:spPr>
          <a:xfrm flipH="1">
            <a:off x="6233831" y="3871026"/>
            <a:ext cx="3012374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ktangel 53">
            <a:extLst>
              <a:ext uri="{FF2B5EF4-FFF2-40B4-BE49-F238E27FC236}">
                <a16:creationId xmlns:a16="http://schemas.microsoft.com/office/drawing/2014/main" id="{BAD901FB-2E20-F641-9214-0ED2B01A9455}"/>
              </a:ext>
            </a:extLst>
          </p:cNvPr>
          <p:cNvSpPr/>
          <p:nvPr/>
        </p:nvSpPr>
        <p:spPr>
          <a:xfrm>
            <a:off x="6412762" y="3807246"/>
            <a:ext cx="282540" cy="1143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59" name="Lige forbindelse 58">
            <a:extLst>
              <a:ext uri="{FF2B5EF4-FFF2-40B4-BE49-F238E27FC236}">
                <a16:creationId xmlns:a16="http://schemas.microsoft.com/office/drawing/2014/main" id="{A2ACF32D-AF84-C146-BFEC-5E287D9FE796}"/>
              </a:ext>
            </a:extLst>
          </p:cNvPr>
          <p:cNvCxnSpPr>
            <a:cxnSpLocks/>
          </p:cNvCxnSpPr>
          <p:nvPr/>
        </p:nvCxnSpPr>
        <p:spPr>
          <a:xfrm flipH="1">
            <a:off x="5714413" y="3310907"/>
            <a:ext cx="1679241" cy="0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Lige forbindelse 60">
            <a:extLst>
              <a:ext uri="{FF2B5EF4-FFF2-40B4-BE49-F238E27FC236}">
                <a16:creationId xmlns:a16="http://schemas.microsoft.com/office/drawing/2014/main" id="{C528200B-09C3-F449-9C50-8FC68DA2CC89}"/>
              </a:ext>
            </a:extLst>
          </p:cNvPr>
          <p:cNvCxnSpPr>
            <a:cxnSpLocks/>
          </p:cNvCxnSpPr>
          <p:nvPr/>
        </p:nvCxnSpPr>
        <p:spPr>
          <a:xfrm>
            <a:off x="7393654" y="3310907"/>
            <a:ext cx="0" cy="1120237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4" name="Lige forbindelse 63">
            <a:extLst>
              <a:ext uri="{FF2B5EF4-FFF2-40B4-BE49-F238E27FC236}">
                <a16:creationId xmlns:a16="http://schemas.microsoft.com/office/drawing/2014/main" id="{AA2D9CE2-4C33-DD45-B984-E812D5FEE5B1}"/>
              </a:ext>
            </a:extLst>
          </p:cNvPr>
          <p:cNvCxnSpPr>
            <a:cxnSpLocks/>
          </p:cNvCxnSpPr>
          <p:nvPr/>
        </p:nvCxnSpPr>
        <p:spPr>
          <a:xfrm flipH="1">
            <a:off x="5714412" y="4431144"/>
            <a:ext cx="1679241" cy="0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Lige forbindelse 64">
            <a:extLst>
              <a:ext uri="{FF2B5EF4-FFF2-40B4-BE49-F238E27FC236}">
                <a16:creationId xmlns:a16="http://schemas.microsoft.com/office/drawing/2014/main" id="{78A70E67-2DB9-234D-B14E-95EF3DBE9FE6}"/>
              </a:ext>
            </a:extLst>
          </p:cNvPr>
          <p:cNvCxnSpPr>
            <a:cxnSpLocks/>
          </p:cNvCxnSpPr>
          <p:nvPr/>
        </p:nvCxnSpPr>
        <p:spPr>
          <a:xfrm flipH="1">
            <a:off x="8428980" y="3796959"/>
            <a:ext cx="95003" cy="15391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Lige forbindelse 66">
            <a:extLst>
              <a:ext uri="{FF2B5EF4-FFF2-40B4-BE49-F238E27FC236}">
                <a16:creationId xmlns:a16="http://schemas.microsoft.com/office/drawing/2014/main" id="{06D08D86-6E2F-B141-8284-F101AA1AE079}"/>
              </a:ext>
            </a:extLst>
          </p:cNvPr>
          <p:cNvCxnSpPr>
            <a:cxnSpLocks/>
          </p:cNvCxnSpPr>
          <p:nvPr/>
        </p:nvCxnSpPr>
        <p:spPr>
          <a:xfrm flipH="1">
            <a:off x="8486025" y="3794068"/>
            <a:ext cx="95003" cy="15391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Lige forbindelse 67">
            <a:extLst>
              <a:ext uri="{FF2B5EF4-FFF2-40B4-BE49-F238E27FC236}">
                <a16:creationId xmlns:a16="http://schemas.microsoft.com/office/drawing/2014/main" id="{58CD2338-8F85-9543-AB43-F4A9C36C8843}"/>
              </a:ext>
            </a:extLst>
          </p:cNvPr>
          <p:cNvCxnSpPr>
            <a:cxnSpLocks/>
          </p:cNvCxnSpPr>
          <p:nvPr/>
        </p:nvCxnSpPr>
        <p:spPr>
          <a:xfrm flipH="1">
            <a:off x="8533799" y="3794068"/>
            <a:ext cx="95003" cy="15391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Lige forbindelse 68">
            <a:extLst>
              <a:ext uri="{FF2B5EF4-FFF2-40B4-BE49-F238E27FC236}">
                <a16:creationId xmlns:a16="http://schemas.microsoft.com/office/drawing/2014/main" id="{3D01510B-BD1F-4B46-98CD-319FB4BE22FB}"/>
              </a:ext>
            </a:extLst>
          </p:cNvPr>
          <p:cNvCxnSpPr>
            <a:cxnSpLocks/>
          </p:cNvCxnSpPr>
          <p:nvPr/>
        </p:nvCxnSpPr>
        <p:spPr>
          <a:xfrm flipH="1">
            <a:off x="8612538" y="3806174"/>
            <a:ext cx="95003" cy="153913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Lige forbindelse 69">
            <a:extLst>
              <a:ext uri="{FF2B5EF4-FFF2-40B4-BE49-F238E27FC236}">
                <a16:creationId xmlns:a16="http://schemas.microsoft.com/office/drawing/2014/main" id="{F8E91691-BB07-9944-8A9A-23D804C50E03}"/>
              </a:ext>
            </a:extLst>
          </p:cNvPr>
          <p:cNvCxnSpPr>
            <a:cxnSpLocks/>
          </p:cNvCxnSpPr>
          <p:nvPr/>
        </p:nvCxnSpPr>
        <p:spPr>
          <a:xfrm flipH="1">
            <a:off x="8643367" y="3806174"/>
            <a:ext cx="128464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ige forbindelse 71">
            <a:extLst>
              <a:ext uri="{FF2B5EF4-FFF2-40B4-BE49-F238E27FC236}">
                <a16:creationId xmlns:a16="http://schemas.microsoft.com/office/drawing/2014/main" id="{52D1910D-E715-D342-B09A-F99D51DB6E1D}"/>
              </a:ext>
            </a:extLst>
          </p:cNvPr>
          <p:cNvCxnSpPr>
            <a:cxnSpLocks/>
          </p:cNvCxnSpPr>
          <p:nvPr/>
        </p:nvCxnSpPr>
        <p:spPr>
          <a:xfrm flipH="1">
            <a:off x="9230214" y="3832546"/>
            <a:ext cx="47501" cy="76956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Lige forbindelse 73">
            <a:extLst>
              <a:ext uri="{FF2B5EF4-FFF2-40B4-BE49-F238E27FC236}">
                <a16:creationId xmlns:a16="http://schemas.microsoft.com/office/drawing/2014/main" id="{E6588967-5937-614D-B89B-C80CE1C11C84}"/>
              </a:ext>
            </a:extLst>
          </p:cNvPr>
          <p:cNvCxnSpPr>
            <a:cxnSpLocks/>
          </p:cNvCxnSpPr>
          <p:nvPr/>
        </p:nvCxnSpPr>
        <p:spPr>
          <a:xfrm flipH="1" flipV="1">
            <a:off x="9228829" y="3845729"/>
            <a:ext cx="57554" cy="5058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Lige forbindelse 76">
            <a:extLst>
              <a:ext uri="{FF2B5EF4-FFF2-40B4-BE49-F238E27FC236}">
                <a16:creationId xmlns:a16="http://schemas.microsoft.com/office/drawing/2014/main" id="{42DF796F-8211-BF4E-B337-BE1FFD4E51A4}"/>
              </a:ext>
            </a:extLst>
          </p:cNvPr>
          <p:cNvCxnSpPr>
            <a:cxnSpLocks/>
          </p:cNvCxnSpPr>
          <p:nvPr/>
        </p:nvCxnSpPr>
        <p:spPr>
          <a:xfrm flipH="1">
            <a:off x="9299240" y="3883130"/>
            <a:ext cx="134027" cy="7695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ige forbindelse 81">
            <a:extLst>
              <a:ext uri="{FF2B5EF4-FFF2-40B4-BE49-F238E27FC236}">
                <a16:creationId xmlns:a16="http://schemas.microsoft.com/office/drawing/2014/main" id="{4F8B4418-A7D4-4D4C-ABB3-3FFA9DCA84FF}"/>
              </a:ext>
            </a:extLst>
          </p:cNvPr>
          <p:cNvCxnSpPr>
            <a:cxnSpLocks/>
          </p:cNvCxnSpPr>
          <p:nvPr/>
        </p:nvCxnSpPr>
        <p:spPr>
          <a:xfrm flipH="1">
            <a:off x="9433267" y="3886650"/>
            <a:ext cx="219415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Kombinationstegning 84">
            <a:extLst>
              <a:ext uri="{FF2B5EF4-FFF2-40B4-BE49-F238E27FC236}">
                <a16:creationId xmlns:a16="http://schemas.microsoft.com/office/drawing/2014/main" id="{D6EE06F8-E3B4-3249-AF2E-BDABEF8B8B28}"/>
              </a:ext>
            </a:extLst>
          </p:cNvPr>
          <p:cNvSpPr/>
          <p:nvPr/>
        </p:nvSpPr>
        <p:spPr>
          <a:xfrm>
            <a:off x="9661841" y="3823486"/>
            <a:ext cx="494806" cy="87133"/>
          </a:xfrm>
          <a:custGeom>
            <a:avLst/>
            <a:gdLst>
              <a:gd name="connsiteX0" fmla="*/ 0 w 494806"/>
              <a:gd name="connsiteY0" fmla="*/ 63374 h 87133"/>
              <a:gd name="connsiteX1" fmla="*/ 95003 w 494806"/>
              <a:gd name="connsiteY1" fmla="*/ 39 h 87133"/>
              <a:gd name="connsiteX2" fmla="*/ 146463 w 494806"/>
              <a:gd name="connsiteY2" fmla="*/ 71291 h 87133"/>
              <a:gd name="connsiteX3" fmla="*/ 221673 w 494806"/>
              <a:gd name="connsiteY3" fmla="*/ 11914 h 87133"/>
              <a:gd name="connsiteX4" fmla="*/ 292925 w 494806"/>
              <a:gd name="connsiteY4" fmla="*/ 71291 h 87133"/>
              <a:gd name="connsiteX5" fmla="*/ 352302 w 494806"/>
              <a:gd name="connsiteY5" fmla="*/ 3997 h 87133"/>
              <a:gd name="connsiteX6" fmla="*/ 419595 w 494806"/>
              <a:gd name="connsiteY6" fmla="*/ 87125 h 87133"/>
              <a:gd name="connsiteX7" fmla="*/ 494806 w 494806"/>
              <a:gd name="connsiteY7" fmla="*/ 7956 h 87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4806" h="87133">
                <a:moveTo>
                  <a:pt x="0" y="63374"/>
                </a:moveTo>
                <a:cubicBezTo>
                  <a:pt x="35296" y="31047"/>
                  <a:pt x="70593" y="-1280"/>
                  <a:pt x="95003" y="39"/>
                </a:cubicBezTo>
                <a:cubicBezTo>
                  <a:pt x="119413" y="1358"/>
                  <a:pt x="125351" y="69312"/>
                  <a:pt x="146463" y="71291"/>
                </a:cubicBezTo>
                <a:cubicBezTo>
                  <a:pt x="167575" y="73270"/>
                  <a:pt x="197263" y="11914"/>
                  <a:pt x="221673" y="11914"/>
                </a:cubicBezTo>
                <a:cubicBezTo>
                  <a:pt x="246083" y="11914"/>
                  <a:pt x="271154" y="72610"/>
                  <a:pt x="292925" y="71291"/>
                </a:cubicBezTo>
                <a:cubicBezTo>
                  <a:pt x="314696" y="69972"/>
                  <a:pt x="331190" y="1358"/>
                  <a:pt x="352302" y="3997"/>
                </a:cubicBezTo>
                <a:cubicBezTo>
                  <a:pt x="373414" y="6636"/>
                  <a:pt x="395844" y="86465"/>
                  <a:pt x="419595" y="87125"/>
                </a:cubicBezTo>
                <a:cubicBezTo>
                  <a:pt x="443346" y="87785"/>
                  <a:pt x="469076" y="47870"/>
                  <a:pt x="494806" y="7956"/>
                </a:cubicBezTo>
              </a:path>
            </a:pathLst>
          </a:cu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05A00A81-4961-184E-9906-3C7E37C9A9DF}"/>
              </a:ext>
            </a:extLst>
          </p:cNvPr>
          <p:cNvSpPr/>
          <p:nvPr/>
        </p:nvSpPr>
        <p:spPr>
          <a:xfrm>
            <a:off x="10124979" y="3657270"/>
            <a:ext cx="229590" cy="209782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87" name="Lige forbindelse 86">
            <a:extLst>
              <a:ext uri="{FF2B5EF4-FFF2-40B4-BE49-F238E27FC236}">
                <a16:creationId xmlns:a16="http://schemas.microsoft.com/office/drawing/2014/main" id="{0175DDFF-F4B1-884B-86A1-FBDEE10266D0}"/>
              </a:ext>
            </a:extLst>
          </p:cNvPr>
          <p:cNvCxnSpPr>
            <a:cxnSpLocks/>
          </p:cNvCxnSpPr>
          <p:nvPr/>
        </p:nvCxnSpPr>
        <p:spPr>
          <a:xfrm flipV="1">
            <a:off x="9356405" y="3935673"/>
            <a:ext cx="1" cy="10115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ktangel 88">
            <a:extLst>
              <a:ext uri="{FF2B5EF4-FFF2-40B4-BE49-F238E27FC236}">
                <a16:creationId xmlns:a16="http://schemas.microsoft.com/office/drawing/2014/main" id="{1E897E09-EA30-8945-B89C-E06C7326C2F2}"/>
              </a:ext>
            </a:extLst>
          </p:cNvPr>
          <p:cNvSpPr/>
          <p:nvPr/>
        </p:nvSpPr>
        <p:spPr>
          <a:xfrm>
            <a:off x="9317060" y="4051761"/>
            <a:ext cx="78690" cy="7521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0" name="Lige forbindelse 89">
            <a:extLst>
              <a:ext uri="{FF2B5EF4-FFF2-40B4-BE49-F238E27FC236}">
                <a16:creationId xmlns:a16="http://schemas.microsoft.com/office/drawing/2014/main" id="{AD8A0F23-C632-054A-B550-F5D04538FBDB}"/>
              </a:ext>
            </a:extLst>
          </p:cNvPr>
          <p:cNvCxnSpPr>
            <a:cxnSpLocks/>
          </p:cNvCxnSpPr>
          <p:nvPr/>
        </p:nvCxnSpPr>
        <p:spPr>
          <a:xfrm flipV="1">
            <a:off x="9356405" y="4127918"/>
            <a:ext cx="0" cy="4821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Lige forbindelse 91">
            <a:extLst>
              <a:ext uri="{FF2B5EF4-FFF2-40B4-BE49-F238E27FC236}">
                <a16:creationId xmlns:a16="http://schemas.microsoft.com/office/drawing/2014/main" id="{25AB2052-0D9A-C34C-96FA-11947DC96A10}"/>
              </a:ext>
            </a:extLst>
          </p:cNvPr>
          <p:cNvCxnSpPr>
            <a:cxnSpLocks/>
          </p:cNvCxnSpPr>
          <p:nvPr/>
        </p:nvCxnSpPr>
        <p:spPr>
          <a:xfrm flipV="1">
            <a:off x="9339320" y="4176131"/>
            <a:ext cx="34169" cy="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Lige forbindelse 95">
            <a:extLst>
              <a:ext uri="{FF2B5EF4-FFF2-40B4-BE49-F238E27FC236}">
                <a16:creationId xmlns:a16="http://schemas.microsoft.com/office/drawing/2014/main" id="{1932604B-3345-4C44-8AB7-805DD5C62CA5}"/>
              </a:ext>
            </a:extLst>
          </p:cNvPr>
          <p:cNvCxnSpPr>
            <a:cxnSpLocks/>
          </p:cNvCxnSpPr>
          <p:nvPr/>
        </p:nvCxnSpPr>
        <p:spPr>
          <a:xfrm>
            <a:off x="9730915" y="3583419"/>
            <a:ext cx="0" cy="704223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7" name="Lige forbindelse 96">
            <a:extLst>
              <a:ext uri="{FF2B5EF4-FFF2-40B4-BE49-F238E27FC236}">
                <a16:creationId xmlns:a16="http://schemas.microsoft.com/office/drawing/2014/main" id="{877886DF-02FA-F944-9056-66415775ED12}"/>
              </a:ext>
            </a:extLst>
          </p:cNvPr>
          <p:cNvCxnSpPr>
            <a:cxnSpLocks/>
          </p:cNvCxnSpPr>
          <p:nvPr/>
        </p:nvCxnSpPr>
        <p:spPr>
          <a:xfrm flipH="1">
            <a:off x="9161270" y="4280801"/>
            <a:ext cx="569645" cy="0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Lige forbindelse 100">
            <a:extLst>
              <a:ext uri="{FF2B5EF4-FFF2-40B4-BE49-F238E27FC236}">
                <a16:creationId xmlns:a16="http://schemas.microsoft.com/office/drawing/2014/main" id="{C4D9F8E0-1A8F-0A4D-9982-2D7D0F656FBE}"/>
              </a:ext>
            </a:extLst>
          </p:cNvPr>
          <p:cNvCxnSpPr>
            <a:cxnSpLocks/>
          </p:cNvCxnSpPr>
          <p:nvPr/>
        </p:nvCxnSpPr>
        <p:spPr>
          <a:xfrm flipH="1">
            <a:off x="9165554" y="3583419"/>
            <a:ext cx="569645" cy="0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Lige forbindelse 101">
            <a:extLst>
              <a:ext uri="{FF2B5EF4-FFF2-40B4-BE49-F238E27FC236}">
                <a16:creationId xmlns:a16="http://schemas.microsoft.com/office/drawing/2014/main" id="{1018D79E-01EE-244D-9660-6D4D78002A43}"/>
              </a:ext>
            </a:extLst>
          </p:cNvPr>
          <p:cNvCxnSpPr>
            <a:cxnSpLocks/>
          </p:cNvCxnSpPr>
          <p:nvPr/>
        </p:nvCxnSpPr>
        <p:spPr>
          <a:xfrm>
            <a:off x="9161270" y="3576578"/>
            <a:ext cx="0" cy="704223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3" name="Lige forbindelse 102">
            <a:extLst>
              <a:ext uri="{FF2B5EF4-FFF2-40B4-BE49-F238E27FC236}">
                <a16:creationId xmlns:a16="http://schemas.microsoft.com/office/drawing/2014/main" id="{A9FA57BA-24B6-4E46-9C26-0E5221FCEF42}"/>
              </a:ext>
            </a:extLst>
          </p:cNvPr>
          <p:cNvCxnSpPr>
            <a:cxnSpLocks/>
          </p:cNvCxnSpPr>
          <p:nvPr/>
        </p:nvCxnSpPr>
        <p:spPr>
          <a:xfrm flipV="1">
            <a:off x="6232221" y="3527739"/>
            <a:ext cx="0" cy="71078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Lige forbindelse 104">
            <a:extLst>
              <a:ext uri="{FF2B5EF4-FFF2-40B4-BE49-F238E27FC236}">
                <a16:creationId xmlns:a16="http://schemas.microsoft.com/office/drawing/2014/main" id="{498DEEDC-0A40-4748-83F7-44054639E101}"/>
              </a:ext>
            </a:extLst>
          </p:cNvPr>
          <p:cNvCxnSpPr>
            <a:cxnSpLocks/>
          </p:cNvCxnSpPr>
          <p:nvPr/>
        </p:nvCxnSpPr>
        <p:spPr>
          <a:xfrm>
            <a:off x="5714412" y="3323010"/>
            <a:ext cx="0" cy="1120237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6" name="Tekstfelt 105">
            <a:extLst>
              <a:ext uri="{FF2B5EF4-FFF2-40B4-BE49-F238E27FC236}">
                <a16:creationId xmlns:a16="http://schemas.microsoft.com/office/drawing/2014/main" id="{82C7F2DB-DB32-D84E-9AA9-DDBB7D4A6F35}"/>
              </a:ext>
            </a:extLst>
          </p:cNvPr>
          <p:cNvSpPr txBox="1"/>
          <p:nvPr/>
        </p:nvSpPr>
        <p:spPr>
          <a:xfrm>
            <a:off x="6321307" y="3102153"/>
            <a:ext cx="98326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/>
              <a:t>Tavle</a:t>
            </a:r>
          </a:p>
        </p:txBody>
      </p:sp>
      <p:sp>
        <p:nvSpPr>
          <p:cNvPr id="107" name="Tekstfelt 106">
            <a:extLst>
              <a:ext uri="{FF2B5EF4-FFF2-40B4-BE49-F238E27FC236}">
                <a16:creationId xmlns:a16="http://schemas.microsoft.com/office/drawing/2014/main" id="{CF443B93-CD38-2345-83B9-D989DCB4E291}"/>
              </a:ext>
            </a:extLst>
          </p:cNvPr>
          <p:cNvSpPr txBox="1"/>
          <p:nvPr/>
        </p:nvSpPr>
        <p:spPr>
          <a:xfrm>
            <a:off x="9072896" y="3395078"/>
            <a:ext cx="98326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/>
              <a:t>Motorværn</a:t>
            </a:r>
          </a:p>
        </p:txBody>
      </p:sp>
      <p:sp>
        <p:nvSpPr>
          <p:cNvPr id="108" name="Tekstfelt 107">
            <a:extLst>
              <a:ext uri="{FF2B5EF4-FFF2-40B4-BE49-F238E27FC236}">
                <a16:creationId xmlns:a16="http://schemas.microsoft.com/office/drawing/2014/main" id="{296FCE42-E45D-B547-A305-C7D4DAE4406E}"/>
              </a:ext>
            </a:extLst>
          </p:cNvPr>
          <p:cNvSpPr txBox="1"/>
          <p:nvPr/>
        </p:nvSpPr>
        <p:spPr>
          <a:xfrm>
            <a:off x="10105425" y="3661409"/>
            <a:ext cx="983263" cy="21544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a-DK" sz="800" dirty="0"/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336242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E20CB87-5FCF-1143-9E4F-82E23F4CB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baseline="-25000" dirty="0"/>
              <a:t>Generel forståelse</a:t>
            </a:r>
          </a:p>
          <a:p>
            <a:pPr lvl="1">
              <a:buFont typeface="Wingdings" pitchFamily="2" charset="2"/>
              <a:buChar char="Ø"/>
            </a:pPr>
            <a:r>
              <a:rPr lang="da-DK" sz="1400" dirty="0"/>
              <a:t>IK</a:t>
            </a:r>
            <a:r>
              <a:rPr lang="da-DK" sz="1400" baseline="-25000" dirty="0"/>
              <a:t>max</a:t>
            </a:r>
          </a:p>
          <a:p>
            <a:pPr lvl="1">
              <a:buFont typeface="Wingdings" pitchFamily="2" charset="2"/>
              <a:buChar char="Ø"/>
            </a:pPr>
            <a:r>
              <a:rPr lang="da-DK" sz="1400" dirty="0"/>
              <a:t>IK</a:t>
            </a:r>
            <a:r>
              <a:rPr lang="da-DK" sz="1400" baseline="-25000" dirty="0"/>
              <a:t>min</a:t>
            </a:r>
            <a:r>
              <a:rPr lang="da-DK" sz="1400" dirty="0"/>
              <a:t> </a:t>
            </a:r>
            <a:r>
              <a:rPr lang="da-DK" sz="1400" baseline="-25000" dirty="0"/>
              <a:t>F+N – F+PE</a:t>
            </a:r>
          </a:p>
          <a:p>
            <a:pPr lvl="1">
              <a:buFont typeface="Wingdings" pitchFamily="2" charset="2"/>
              <a:buChar char="Ø"/>
            </a:pPr>
            <a:r>
              <a:rPr lang="da-DK" dirty="0"/>
              <a:t>Kortslutningskontrol</a:t>
            </a:r>
            <a:endParaRPr lang="da-DK" sz="1400" baseline="-25000" dirty="0">
              <a:solidFill>
                <a:prstClr val="white"/>
              </a:solidFill>
            </a:endParaRPr>
          </a:p>
          <a:p>
            <a:pPr marL="457200" lvl="1" indent="0">
              <a:buNone/>
            </a:pPr>
            <a:endParaRPr lang="da-DK" baseline="-250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3EE0E937-1DD7-8A44-989F-7712C209B5B0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Kortslutningsbeskyttelse - KB</a:t>
            </a:r>
            <a:endParaRPr lang="da-DK" sz="2400" baseline="-25000" dirty="0"/>
          </a:p>
        </p:txBody>
      </p: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797C6540-C25E-0248-AAFC-837B19071608}"/>
              </a:ext>
            </a:extLst>
          </p:cNvPr>
          <p:cNvCxnSpPr>
            <a:cxnSpLocks/>
          </p:cNvCxnSpPr>
          <p:nvPr/>
        </p:nvCxnSpPr>
        <p:spPr>
          <a:xfrm>
            <a:off x="2909456" y="3857489"/>
            <a:ext cx="1" cy="156754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16623735-C692-5641-8243-F34B03A7DC8E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909456" y="4641262"/>
            <a:ext cx="6175158" cy="1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llipse 8">
            <a:extLst>
              <a:ext uri="{FF2B5EF4-FFF2-40B4-BE49-F238E27FC236}">
                <a16:creationId xmlns:a16="http://schemas.microsoft.com/office/drawing/2014/main" id="{C0AC3888-A7D9-AC42-BE25-64F582385077}"/>
              </a:ext>
            </a:extLst>
          </p:cNvPr>
          <p:cNvSpPr/>
          <p:nvPr/>
        </p:nvSpPr>
        <p:spPr>
          <a:xfrm>
            <a:off x="9084614" y="4309979"/>
            <a:ext cx="663030" cy="662565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Lyn 9">
            <a:extLst>
              <a:ext uri="{FF2B5EF4-FFF2-40B4-BE49-F238E27FC236}">
                <a16:creationId xmlns:a16="http://schemas.microsoft.com/office/drawing/2014/main" id="{65FFFE82-3AD5-E54E-B15F-6155FD59FBA4}"/>
              </a:ext>
            </a:extLst>
          </p:cNvPr>
          <p:cNvSpPr/>
          <p:nvPr/>
        </p:nvSpPr>
        <p:spPr>
          <a:xfrm rot="4035730">
            <a:off x="2837610" y="3802724"/>
            <a:ext cx="638252" cy="718895"/>
          </a:xfrm>
          <a:prstGeom prst="lightningBol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4" name="Lyn 13">
            <a:extLst>
              <a:ext uri="{FF2B5EF4-FFF2-40B4-BE49-F238E27FC236}">
                <a16:creationId xmlns:a16="http://schemas.microsoft.com/office/drawing/2014/main" id="{0889EDF1-A5EC-5741-9706-2C5FE6A06407}"/>
              </a:ext>
            </a:extLst>
          </p:cNvPr>
          <p:cNvSpPr/>
          <p:nvPr/>
        </p:nvSpPr>
        <p:spPr>
          <a:xfrm rot="4035730">
            <a:off x="8973658" y="3824041"/>
            <a:ext cx="638252" cy="718895"/>
          </a:xfrm>
          <a:prstGeom prst="lightningBol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7" name="Tekstfelt 16">
            <a:extLst>
              <a:ext uri="{FF2B5EF4-FFF2-40B4-BE49-F238E27FC236}">
                <a16:creationId xmlns:a16="http://schemas.microsoft.com/office/drawing/2014/main" id="{52498017-28D3-3542-BE68-E11D006D93C3}"/>
              </a:ext>
            </a:extLst>
          </p:cNvPr>
          <p:cNvSpPr txBox="1"/>
          <p:nvPr/>
        </p:nvSpPr>
        <p:spPr>
          <a:xfrm>
            <a:off x="2701876" y="3572136"/>
            <a:ext cx="2802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000" dirty="0"/>
              <a:t>IK</a:t>
            </a:r>
            <a:r>
              <a:rPr lang="da-DK" sz="1000" baseline="-25000" dirty="0"/>
              <a:t>max</a:t>
            </a:r>
          </a:p>
        </p:txBody>
      </p:sp>
      <p:sp>
        <p:nvSpPr>
          <p:cNvPr id="18" name="Tekstfelt 17">
            <a:extLst>
              <a:ext uri="{FF2B5EF4-FFF2-40B4-BE49-F238E27FC236}">
                <a16:creationId xmlns:a16="http://schemas.microsoft.com/office/drawing/2014/main" id="{7EB7B99A-B6C2-0040-AB7C-3CCAD9ED9022}"/>
              </a:ext>
            </a:extLst>
          </p:cNvPr>
          <p:cNvSpPr txBox="1"/>
          <p:nvPr/>
        </p:nvSpPr>
        <p:spPr>
          <a:xfrm>
            <a:off x="8914013" y="3572135"/>
            <a:ext cx="2802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000" dirty="0"/>
              <a:t>IK</a:t>
            </a:r>
            <a:r>
              <a:rPr lang="da-DK" sz="1000" baseline="-25000" dirty="0"/>
              <a:t>min</a:t>
            </a:r>
          </a:p>
        </p:txBody>
      </p:sp>
      <p:cxnSp>
        <p:nvCxnSpPr>
          <p:cNvPr id="19" name="Lige forbindelse 18">
            <a:extLst>
              <a:ext uri="{FF2B5EF4-FFF2-40B4-BE49-F238E27FC236}">
                <a16:creationId xmlns:a16="http://schemas.microsoft.com/office/drawing/2014/main" id="{803FCE0B-D3C8-2545-A736-EC7EAB28655A}"/>
              </a:ext>
            </a:extLst>
          </p:cNvPr>
          <p:cNvCxnSpPr>
            <a:cxnSpLocks/>
          </p:cNvCxnSpPr>
          <p:nvPr/>
        </p:nvCxnSpPr>
        <p:spPr>
          <a:xfrm flipH="1">
            <a:off x="2909456" y="4687107"/>
            <a:ext cx="6175158" cy="1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7697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{9037C379-281D-D546-9CDB-20D71457459D}tf10001062</Template>
  <TotalTime>419</TotalTime>
  <Words>188</Words>
  <Application>Microsoft Macintosh PowerPoint</Application>
  <PresentationFormat>Widescreen</PresentationFormat>
  <Paragraphs>65</Paragraphs>
  <Slides>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7</vt:i4>
      </vt:variant>
    </vt:vector>
  </HeadingPairs>
  <TitlesOfParts>
    <vt:vector size="13" baseType="lpstr">
      <vt:lpstr>Arial</vt:lpstr>
      <vt:lpstr>Calibri</vt:lpstr>
      <vt:lpstr>Century Gothic</vt:lpstr>
      <vt:lpstr>Wingdings</vt:lpstr>
      <vt:lpstr>Wingdings 3</vt:lpstr>
      <vt:lpstr>Ion</vt:lpstr>
      <vt:lpstr>Overstrømsbeskyttelse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Dimensionering af trafo</dc:title>
  <dc:creator>Nicolai Alexander Skjershede</dc:creator>
  <cp:lastModifiedBy>Nicolai Alexander Skjershede</cp:lastModifiedBy>
  <cp:revision>46</cp:revision>
  <dcterms:created xsi:type="dcterms:W3CDTF">2021-04-04T16:29:49Z</dcterms:created>
  <dcterms:modified xsi:type="dcterms:W3CDTF">2021-04-06T18:17:36Z</dcterms:modified>
</cp:coreProperties>
</file>